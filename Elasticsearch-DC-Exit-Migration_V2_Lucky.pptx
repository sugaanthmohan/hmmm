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60" y="-2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2D3B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D3B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D3B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D3B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6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9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5675" y="468694"/>
            <a:ext cx="9929380" cy="1297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2D3B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6"/>
            <a:ext cx="4286250" cy="642937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93716" y="2514371"/>
            <a:ext cx="553402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150" dirty="0"/>
              <a:t>Elasticsearch</a:t>
            </a:r>
            <a:r>
              <a:rPr sz="3050" spc="-95" dirty="0"/>
              <a:t> </a:t>
            </a:r>
            <a:r>
              <a:rPr sz="3050" spc="-135" dirty="0"/>
              <a:t>DC</a:t>
            </a:r>
            <a:r>
              <a:rPr sz="3050" spc="-80" dirty="0"/>
              <a:t> </a:t>
            </a:r>
            <a:r>
              <a:rPr sz="3050" spc="-190" dirty="0"/>
              <a:t>Exit</a:t>
            </a:r>
            <a:r>
              <a:rPr sz="3050" spc="-85" dirty="0"/>
              <a:t> </a:t>
            </a:r>
            <a:r>
              <a:rPr sz="3050" spc="-110" dirty="0"/>
              <a:t>Migration</a:t>
            </a:r>
            <a:endParaRPr sz="3050"/>
          </a:p>
        </p:txBody>
      </p:sp>
      <p:sp>
        <p:nvSpPr>
          <p:cNvPr id="4" name="object 4"/>
          <p:cNvSpPr txBox="1"/>
          <p:nvPr/>
        </p:nvSpPr>
        <p:spPr>
          <a:xfrm>
            <a:off x="4893716" y="3251809"/>
            <a:ext cx="5226685" cy="621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Seamlessly</a:t>
            </a:r>
            <a:r>
              <a:rPr sz="12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transitioning</a:t>
            </a:r>
            <a:r>
              <a:rPr sz="12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2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12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resilient,</a:t>
            </a:r>
            <a:r>
              <a:rPr sz="12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multi-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region</a:t>
            </a:r>
            <a:r>
              <a:rPr sz="12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architecture.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Presented</a:t>
            </a:r>
            <a:r>
              <a:rPr sz="12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Technical</a:t>
            </a:r>
            <a:r>
              <a:rPr sz="12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Program</a:t>
            </a:r>
            <a:r>
              <a:rPr sz="12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Managers,</a:t>
            </a:r>
            <a:r>
              <a:rPr sz="12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SREs,</a:t>
            </a:r>
            <a:r>
              <a:rPr sz="12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2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Enterprise</a:t>
            </a:r>
            <a:r>
              <a:rPr sz="12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Architects.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6429375"/>
                </a:moveTo>
                <a:lnTo>
                  <a:pt x="0" y="6429375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29375"/>
                </a:lnTo>
                <a:close/>
              </a:path>
            </a:pathLst>
          </a:custGeom>
          <a:solidFill>
            <a:srgbClr val="F9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7466" y="1354516"/>
            <a:ext cx="9328150" cy="81216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pc="-65" dirty="0"/>
              <a:t>Project </a:t>
            </a:r>
            <a:r>
              <a:rPr spc="-10" dirty="0"/>
              <a:t>Overview</a:t>
            </a: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3050" spc="-145" dirty="0"/>
              <a:t>Addressing</a:t>
            </a:r>
            <a:r>
              <a:rPr sz="3050" spc="-100" dirty="0"/>
              <a:t> </a:t>
            </a:r>
            <a:r>
              <a:rPr sz="3050" spc="-125" dirty="0"/>
              <a:t>Critical</a:t>
            </a:r>
            <a:r>
              <a:rPr sz="3050" spc="-90" dirty="0"/>
              <a:t> </a:t>
            </a:r>
            <a:r>
              <a:rPr sz="3050" spc="-195" dirty="0"/>
              <a:t>Business</a:t>
            </a:r>
            <a:r>
              <a:rPr sz="3050" spc="-90" dirty="0"/>
              <a:t> </a:t>
            </a:r>
            <a:r>
              <a:rPr sz="3050" spc="-135" dirty="0"/>
              <a:t>and</a:t>
            </a:r>
            <a:r>
              <a:rPr sz="3050" spc="-85" dirty="0"/>
              <a:t> </a:t>
            </a:r>
            <a:r>
              <a:rPr sz="3050" spc="-170" dirty="0"/>
              <a:t>Technical</a:t>
            </a:r>
            <a:r>
              <a:rPr sz="3050" spc="-90" dirty="0"/>
              <a:t> </a:t>
            </a:r>
            <a:r>
              <a:rPr sz="3050" spc="-105" dirty="0"/>
              <a:t>Demands</a:t>
            </a:r>
            <a:endParaRPr sz="3050"/>
          </a:p>
        </p:txBody>
      </p:sp>
      <p:sp>
        <p:nvSpPr>
          <p:cNvPr id="4" name="object 4"/>
          <p:cNvSpPr txBox="1"/>
          <p:nvPr/>
        </p:nvSpPr>
        <p:spPr>
          <a:xfrm>
            <a:off x="607466" y="2370969"/>
            <a:ext cx="10058400" cy="7207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55"/>
              </a:spcBef>
            </a:pP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Trebuchet MS"/>
                <a:cs typeface="Trebuchet MS"/>
              </a:rPr>
              <a:t>current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Elasticsearch</a:t>
            </a:r>
            <a:r>
              <a:rPr sz="120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deployment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20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GRDA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application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relies</a:t>
            </a:r>
            <a:r>
              <a:rPr sz="120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on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384653"/>
                </a:solidFill>
                <a:latin typeface="Trebuchet MS"/>
                <a:cs typeface="Trebuchet MS"/>
              </a:rPr>
              <a:t>two-</a:t>
            </a:r>
            <a:r>
              <a:rPr sz="1200" b="1" spc="-30" dirty="0">
                <a:solidFill>
                  <a:srgbClr val="384653"/>
                </a:solidFill>
                <a:latin typeface="Trebuchet MS"/>
                <a:cs typeface="Trebuchet MS"/>
              </a:rPr>
              <a:t>datacenter</a:t>
            </a:r>
            <a:r>
              <a:rPr sz="1200" b="1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84653"/>
                </a:solidFill>
                <a:latin typeface="Trebuchet MS"/>
                <a:cs typeface="Trebuchet MS"/>
              </a:rPr>
              <a:t>(DC)</a:t>
            </a:r>
            <a:r>
              <a:rPr sz="1200" b="1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384653"/>
                </a:solidFill>
                <a:latin typeface="Trebuchet MS"/>
                <a:cs typeface="Trebuchet MS"/>
              </a:rPr>
              <a:t>model,</a:t>
            </a:r>
            <a:r>
              <a:rPr sz="1200" b="1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posing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limitations</a:t>
            </a:r>
            <a:r>
              <a:rPr sz="120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enhanced</a:t>
            </a:r>
            <a:r>
              <a:rPr sz="120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resilience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regional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presence.</a:t>
            </a:r>
            <a:r>
              <a:rPr sz="120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This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migration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384653"/>
                </a:solidFill>
                <a:latin typeface="Trebuchet MS"/>
                <a:cs typeface="Trebuchet MS"/>
              </a:rPr>
              <a:t>initiative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is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 driven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by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an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enterprise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mandate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deploy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applications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84653"/>
                </a:solidFill>
                <a:latin typeface="Trebuchet MS"/>
                <a:cs typeface="Trebuchet MS"/>
              </a:rPr>
              <a:t>across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384653"/>
                </a:solidFill>
                <a:latin typeface="Trebuchet MS"/>
                <a:cs typeface="Trebuchet MS"/>
              </a:rPr>
              <a:t>four</a:t>
            </a:r>
            <a:r>
              <a:rPr sz="1200" b="1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384653"/>
                </a:solidFill>
                <a:latin typeface="Trebuchet MS"/>
                <a:cs typeface="Trebuchet MS"/>
              </a:rPr>
              <a:t>data </a:t>
            </a:r>
            <a:r>
              <a:rPr sz="1200" b="1" spc="-40" dirty="0">
                <a:solidFill>
                  <a:srgbClr val="384653"/>
                </a:solidFill>
                <a:latin typeface="Trebuchet MS"/>
                <a:cs typeface="Trebuchet MS"/>
              </a:rPr>
              <a:t>centers</a:t>
            </a:r>
            <a:r>
              <a:rPr sz="1200" spc="-40" dirty="0">
                <a:solidFill>
                  <a:srgbClr val="384653"/>
                </a:solidFill>
                <a:latin typeface="Trebuchet MS"/>
                <a:cs typeface="Trebuchet MS"/>
              </a:rPr>
              <a:t>,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ensuring</a:t>
            </a:r>
            <a:r>
              <a:rPr sz="120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384653"/>
                </a:solidFill>
                <a:latin typeface="Trebuchet MS"/>
                <a:cs typeface="Trebuchet MS"/>
              </a:rPr>
              <a:t>higher </a:t>
            </a:r>
            <a:r>
              <a:rPr sz="1200" b="1" spc="-30" dirty="0">
                <a:solidFill>
                  <a:srgbClr val="384653"/>
                </a:solidFill>
                <a:latin typeface="Trebuchet MS"/>
                <a:cs typeface="Trebuchet MS"/>
              </a:rPr>
              <a:t>availability</a:t>
            </a:r>
            <a:r>
              <a:rPr sz="1200" b="1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20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384653"/>
                </a:solidFill>
                <a:latin typeface="Trebuchet MS"/>
                <a:cs typeface="Trebuchet MS"/>
              </a:rPr>
              <a:t>optimized latency</a:t>
            </a:r>
            <a:r>
              <a:rPr sz="1200" b="1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20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our</a:t>
            </a:r>
            <a:r>
              <a:rPr sz="120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84653"/>
                </a:solidFill>
                <a:latin typeface="Trebuchet MS"/>
                <a:cs typeface="Trebuchet MS"/>
              </a:rPr>
              <a:t>critical</a:t>
            </a:r>
            <a:r>
              <a:rPr sz="120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data.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125" y="3295652"/>
            <a:ext cx="3295650" cy="1743075"/>
            <a:chOff x="619125" y="3295652"/>
            <a:chExt cx="3295650" cy="1743075"/>
          </a:xfrm>
        </p:grpSpPr>
        <p:sp>
          <p:nvSpPr>
            <p:cNvPr id="6" name="object 6"/>
            <p:cNvSpPr/>
            <p:nvPr/>
          </p:nvSpPr>
          <p:spPr>
            <a:xfrm>
              <a:off x="623885" y="3300413"/>
              <a:ext cx="3286125" cy="1733550"/>
            </a:xfrm>
            <a:custGeom>
              <a:avLst/>
              <a:gdLst/>
              <a:ahLst/>
              <a:cxnLst/>
              <a:rect l="l" t="t" r="r" b="b"/>
              <a:pathLst>
                <a:path w="3286125" h="1733550">
                  <a:moveTo>
                    <a:pt x="3236619" y="1733550"/>
                  </a:moveTo>
                  <a:lnTo>
                    <a:pt x="49508" y="1733550"/>
                  </a:lnTo>
                  <a:lnTo>
                    <a:pt x="39630" y="1732642"/>
                  </a:lnTo>
                  <a:lnTo>
                    <a:pt x="3625" y="1703045"/>
                  </a:lnTo>
                  <a:lnTo>
                    <a:pt x="0" y="1684041"/>
                  </a:lnTo>
                  <a:lnTo>
                    <a:pt x="0" y="49505"/>
                  </a:lnTo>
                  <a:lnTo>
                    <a:pt x="22127" y="8155"/>
                  </a:lnTo>
                  <a:lnTo>
                    <a:pt x="49508" y="0"/>
                  </a:lnTo>
                  <a:lnTo>
                    <a:pt x="3236619" y="0"/>
                  </a:lnTo>
                  <a:lnTo>
                    <a:pt x="3277970" y="22124"/>
                  </a:lnTo>
                  <a:lnTo>
                    <a:pt x="3286128" y="49505"/>
                  </a:lnTo>
                  <a:lnTo>
                    <a:pt x="3286128" y="1684041"/>
                  </a:lnTo>
                  <a:lnTo>
                    <a:pt x="3264000" y="1725391"/>
                  </a:lnTo>
                  <a:lnTo>
                    <a:pt x="3236619" y="173355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50" y="3305174"/>
              <a:ext cx="3276600" cy="17240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887" y="3300415"/>
              <a:ext cx="3286125" cy="1733550"/>
            </a:xfrm>
            <a:custGeom>
              <a:avLst/>
              <a:gdLst/>
              <a:ahLst/>
              <a:cxnLst/>
              <a:rect l="l" t="t" r="r" b="b"/>
              <a:pathLst>
                <a:path w="3286125" h="1733550">
                  <a:moveTo>
                    <a:pt x="0" y="1684039"/>
                  </a:moveTo>
                  <a:lnTo>
                    <a:pt x="0" y="49501"/>
                  </a:lnTo>
                  <a:lnTo>
                    <a:pt x="0" y="42938"/>
                  </a:lnTo>
                  <a:lnTo>
                    <a:pt x="1257" y="36623"/>
                  </a:lnTo>
                  <a:lnTo>
                    <a:pt x="3771" y="30556"/>
                  </a:lnTo>
                  <a:lnTo>
                    <a:pt x="6276" y="24488"/>
                  </a:lnTo>
                  <a:lnTo>
                    <a:pt x="9858" y="19135"/>
                  </a:lnTo>
                  <a:lnTo>
                    <a:pt x="42938" y="0"/>
                  </a:lnTo>
                  <a:lnTo>
                    <a:pt x="49510" y="0"/>
                  </a:lnTo>
                  <a:lnTo>
                    <a:pt x="3236614" y="0"/>
                  </a:lnTo>
                  <a:lnTo>
                    <a:pt x="3243186" y="0"/>
                  </a:lnTo>
                  <a:lnTo>
                    <a:pt x="3249501" y="1257"/>
                  </a:lnTo>
                  <a:lnTo>
                    <a:pt x="3279848" y="24488"/>
                  </a:lnTo>
                  <a:lnTo>
                    <a:pt x="3282353" y="30556"/>
                  </a:lnTo>
                  <a:lnTo>
                    <a:pt x="3284867" y="36623"/>
                  </a:lnTo>
                  <a:lnTo>
                    <a:pt x="3286125" y="42938"/>
                  </a:lnTo>
                  <a:lnTo>
                    <a:pt x="3286125" y="49501"/>
                  </a:lnTo>
                  <a:lnTo>
                    <a:pt x="3286125" y="1684039"/>
                  </a:lnTo>
                  <a:lnTo>
                    <a:pt x="3286125" y="1690601"/>
                  </a:lnTo>
                  <a:lnTo>
                    <a:pt x="3284867" y="1696916"/>
                  </a:lnTo>
                  <a:lnTo>
                    <a:pt x="3282353" y="1702984"/>
                  </a:lnTo>
                  <a:lnTo>
                    <a:pt x="3279848" y="1709051"/>
                  </a:lnTo>
                  <a:lnTo>
                    <a:pt x="3276266" y="1714404"/>
                  </a:lnTo>
                  <a:lnTo>
                    <a:pt x="3271627" y="1719043"/>
                  </a:lnTo>
                  <a:lnTo>
                    <a:pt x="3266979" y="1723691"/>
                  </a:lnTo>
                  <a:lnTo>
                    <a:pt x="3261626" y="1727263"/>
                  </a:lnTo>
                  <a:lnTo>
                    <a:pt x="3255559" y="1729778"/>
                  </a:lnTo>
                  <a:lnTo>
                    <a:pt x="3249501" y="1732292"/>
                  </a:lnTo>
                  <a:lnTo>
                    <a:pt x="3243186" y="1733550"/>
                  </a:lnTo>
                  <a:lnTo>
                    <a:pt x="3236614" y="1733550"/>
                  </a:lnTo>
                  <a:lnTo>
                    <a:pt x="49510" y="1733550"/>
                  </a:lnTo>
                  <a:lnTo>
                    <a:pt x="42938" y="1733550"/>
                  </a:lnTo>
                  <a:lnTo>
                    <a:pt x="36623" y="1732292"/>
                  </a:lnTo>
                  <a:lnTo>
                    <a:pt x="30565" y="1729778"/>
                  </a:lnTo>
                  <a:lnTo>
                    <a:pt x="24498" y="1727263"/>
                  </a:lnTo>
                  <a:lnTo>
                    <a:pt x="19145" y="1723691"/>
                  </a:lnTo>
                  <a:lnTo>
                    <a:pt x="14497" y="1719043"/>
                  </a:lnTo>
                  <a:lnTo>
                    <a:pt x="9858" y="1714404"/>
                  </a:lnTo>
                  <a:lnTo>
                    <a:pt x="6276" y="1709051"/>
                  </a:lnTo>
                  <a:lnTo>
                    <a:pt x="3771" y="1702984"/>
                  </a:lnTo>
                  <a:lnTo>
                    <a:pt x="1257" y="1696916"/>
                  </a:lnTo>
                  <a:lnTo>
                    <a:pt x="0" y="1690601"/>
                  </a:lnTo>
                  <a:lnTo>
                    <a:pt x="0" y="1684039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50" y="3457574"/>
              <a:ext cx="466725" cy="4667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763" y="3584168"/>
              <a:ext cx="218518" cy="20371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71921" y="4060761"/>
            <a:ext cx="2534285" cy="7931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55" dirty="0">
                <a:solidFill>
                  <a:srgbClr val="384653"/>
                </a:solidFill>
                <a:latin typeface="Verdana"/>
                <a:cs typeface="Verdana"/>
              </a:rPr>
              <a:t>4-</a:t>
            </a:r>
            <a:r>
              <a:rPr sz="1500" spc="-20" dirty="0">
                <a:solidFill>
                  <a:srgbClr val="384653"/>
                </a:solidFill>
                <a:latin typeface="Verdana"/>
                <a:cs typeface="Verdana"/>
              </a:rPr>
              <a:t>DC</a:t>
            </a:r>
            <a:r>
              <a:rPr sz="1500" spc="-10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384653"/>
                </a:solidFill>
                <a:latin typeface="Verdana"/>
                <a:cs typeface="Verdana"/>
              </a:rPr>
              <a:t>Deployment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30200"/>
              </a:lnSpc>
              <a:spcBef>
                <a:spcPts val="465"/>
              </a:spcBef>
            </a:pP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Mandated</a:t>
            </a:r>
            <a:r>
              <a:rPr sz="1200" spc="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enterprise</a:t>
            </a:r>
            <a:r>
              <a:rPr sz="1200" spc="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standard</a:t>
            </a:r>
            <a:r>
              <a:rPr sz="1200" spc="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200" spc="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84653"/>
                </a:solidFill>
                <a:latin typeface="Trebuchet MS"/>
                <a:cs typeface="Trebuchet MS"/>
              </a:rPr>
              <a:t>all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applications.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67175" y="3295652"/>
            <a:ext cx="3295650" cy="1743075"/>
            <a:chOff x="4067175" y="3295652"/>
            <a:chExt cx="3295650" cy="1743075"/>
          </a:xfrm>
        </p:grpSpPr>
        <p:sp>
          <p:nvSpPr>
            <p:cNvPr id="13" name="object 13"/>
            <p:cNvSpPr/>
            <p:nvPr/>
          </p:nvSpPr>
          <p:spPr>
            <a:xfrm>
              <a:off x="4071939" y="3300413"/>
              <a:ext cx="3286125" cy="1733550"/>
            </a:xfrm>
            <a:custGeom>
              <a:avLst/>
              <a:gdLst/>
              <a:ahLst/>
              <a:cxnLst/>
              <a:rect l="l" t="t" r="r" b="b"/>
              <a:pathLst>
                <a:path w="3286125" h="1733550">
                  <a:moveTo>
                    <a:pt x="3236616" y="1733550"/>
                  </a:moveTo>
                  <a:lnTo>
                    <a:pt x="49505" y="1733550"/>
                  </a:lnTo>
                  <a:lnTo>
                    <a:pt x="39627" y="1732642"/>
                  </a:lnTo>
                  <a:lnTo>
                    <a:pt x="3622" y="1703045"/>
                  </a:lnTo>
                  <a:lnTo>
                    <a:pt x="0" y="1684041"/>
                  </a:lnTo>
                  <a:lnTo>
                    <a:pt x="0" y="49505"/>
                  </a:lnTo>
                  <a:lnTo>
                    <a:pt x="22124" y="8155"/>
                  </a:lnTo>
                  <a:lnTo>
                    <a:pt x="49505" y="0"/>
                  </a:lnTo>
                  <a:lnTo>
                    <a:pt x="3236616" y="0"/>
                  </a:lnTo>
                  <a:lnTo>
                    <a:pt x="3277967" y="22124"/>
                  </a:lnTo>
                  <a:lnTo>
                    <a:pt x="3286125" y="49505"/>
                  </a:lnTo>
                  <a:lnTo>
                    <a:pt x="3286125" y="1684041"/>
                  </a:lnTo>
                  <a:lnTo>
                    <a:pt x="3263997" y="1725391"/>
                  </a:lnTo>
                  <a:lnTo>
                    <a:pt x="3236616" y="173355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6700" y="3305174"/>
              <a:ext cx="3276600" cy="17240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71937" y="3300415"/>
              <a:ext cx="3286125" cy="1733550"/>
            </a:xfrm>
            <a:custGeom>
              <a:avLst/>
              <a:gdLst/>
              <a:ahLst/>
              <a:cxnLst/>
              <a:rect l="l" t="t" r="r" b="b"/>
              <a:pathLst>
                <a:path w="3286125" h="1733550">
                  <a:moveTo>
                    <a:pt x="0" y="1684039"/>
                  </a:moveTo>
                  <a:lnTo>
                    <a:pt x="0" y="49501"/>
                  </a:lnTo>
                  <a:lnTo>
                    <a:pt x="0" y="42938"/>
                  </a:lnTo>
                  <a:lnTo>
                    <a:pt x="1257" y="36623"/>
                  </a:lnTo>
                  <a:lnTo>
                    <a:pt x="3771" y="30556"/>
                  </a:lnTo>
                  <a:lnTo>
                    <a:pt x="6276" y="24488"/>
                  </a:lnTo>
                  <a:lnTo>
                    <a:pt x="9858" y="19135"/>
                  </a:lnTo>
                  <a:lnTo>
                    <a:pt x="42938" y="0"/>
                  </a:lnTo>
                  <a:lnTo>
                    <a:pt x="49510" y="0"/>
                  </a:lnTo>
                  <a:lnTo>
                    <a:pt x="3236614" y="0"/>
                  </a:lnTo>
                  <a:lnTo>
                    <a:pt x="3243186" y="0"/>
                  </a:lnTo>
                  <a:lnTo>
                    <a:pt x="3249491" y="1257"/>
                  </a:lnTo>
                  <a:lnTo>
                    <a:pt x="3279838" y="24488"/>
                  </a:lnTo>
                  <a:lnTo>
                    <a:pt x="3282353" y="30556"/>
                  </a:lnTo>
                  <a:lnTo>
                    <a:pt x="3284867" y="36623"/>
                  </a:lnTo>
                  <a:lnTo>
                    <a:pt x="3286125" y="42938"/>
                  </a:lnTo>
                  <a:lnTo>
                    <a:pt x="3286125" y="49501"/>
                  </a:lnTo>
                  <a:lnTo>
                    <a:pt x="3286125" y="1684039"/>
                  </a:lnTo>
                  <a:lnTo>
                    <a:pt x="3286125" y="1690601"/>
                  </a:lnTo>
                  <a:lnTo>
                    <a:pt x="3284867" y="1696916"/>
                  </a:lnTo>
                  <a:lnTo>
                    <a:pt x="3282353" y="1702984"/>
                  </a:lnTo>
                  <a:lnTo>
                    <a:pt x="3279838" y="1709051"/>
                  </a:lnTo>
                  <a:lnTo>
                    <a:pt x="3276266" y="1714404"/>
                  </a:lnTo>
                  <a:lnTo>
                    <a:pt x="3271627" y="1719043"/>
                  </a:lnTo>
                  <a:lnTo>
                    <a:pt x="3266979" y="1723691"/>
                  </a:lnTo>
                  <a:lnTo>
                    <a:pt x="3261626" y="1727263"/>
                  </a:lnTo>
                  <a:lnTo>
                    <a:pt x="3255559" y="1729778"/>
                  </a:lnTo>
                  <a:lnTo>
                    <a:pt x="3249491" y="1732292"/>
                  </a:lnTo>
                  <a:lnTo>
                    <a:pt x="3243186" y="1733550"/>
                  </a:lnTo>
                  <a:lnTo>
                    <a:pt x="3236614" y="1733550"/>
                  </a:lnTo>
                  <a:lnTo>
                    <a:pt x="49510" y="1733550"/>
                  </a:lnTo>
                  <a:lnTo>
                    <a:pt x="42938" y="1733550"/>
                  </a:lnTo>
                  <a:lnTo>
                    <a:pt x="36623" y="1732292"/>
                  </a:lnTo>
                  <a:lnTo>
                    <a:pt x="30565" y="1729778"/>
                  </a:lnTo>
                  <a:lnTo>
                    <a:pt x="24498" y="1727263"/>
                  </a:lnTo>
                  <a:lnTo>
                    <a:pt x="19145" y="1723691"/>
                  </a:lnTo>
                  <a:lnTo>
                    <a:pt x="14497" y="1719043"/>
                  </a:lnTo>
                  <a:lnTo>
                    <a:pt x="9858" y="1714404"/>
                  </a:lnTo>
                  <a:lnTo>
                    <a:pt x="6276" y="1709051"/>
                  </a:lnTo>
                  <a:lnTo>
                    <a:pt x="3771" y="1702984"/>
                  </a:lnTo>
                  <a:lnTo>
                    <a:pt x="1257" y="1696916"/>
                  </a:lnTo>
                  <a:lnTo>
                    <a:pt x="0" y="1690601"/>
                  </a:lnTo>
                  <a:lnTo>
                    <a:pt x="0" y="1684039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9100" y="3457574"/>
              <a:ext cx="466725" cy="4667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7999" y="3576761"/>
              <a:ext cx="178152" cy="21852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20121" y="4060761"/>
            <a:ext cx="2528570" cy="7931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65" dirty="0">
                <a:solidFill>
                  <a:srgbClr val="384653"/>
                </a:solidFill>
                <a:latin typeface="Verdana"/>
                <a:cs typeface="Verdana"/>
              </a:rPr>
              <a:t>Regional</a:t>
            </a:r>
            <a:r>
              <a:rPr sz="1500" spc="-10" dirty="0">
                <a:solidFill>
                  <a:srgbClr val="384653"/>
                </a:solidFill>
                <a:latin typeface="Verdana"/>
                <a:cs typeface="Verdana"/>
              </a:rPr>
              <a:t> Clusters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30200"/>
              </a:lnSpc>
              <a:spcBef>
                <a:spcPts val="465"/>
              </a:spcBef>
            </a:pP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East</a:t>
            </a:r>
            <a:r>
              <a:rPr sz="1200" spc="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Coast</a:t>
            </a:r>
            <a:r>
              <a:rPr sz="1200" spc="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0" dirty="0">
                <a:solidFill>
                  <a:srgbClr val="384653"/>
                </a:solidFill>
                <a:latin typeface="Trebuchet MS"/>
                <a:cs typeface="Trebuchet MS"/>
              </a:rPr>
              <a:t>&amp;</a:t>
            </a:r>
            <a:r>
              <a:rPr sz="1200" spc="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West</a:t>
            </a:r>
            <a:r>
              <a:rPr sz="1200" spc="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Coast</a:t>
            </a:r>
            <a:r>
              <a:rPr sz="1200" spc="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200" spc="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optimal performance.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15225" y="3295652"/>
            <a:ext cx="3295650" cy="1743075"/>
            <a:chOff x="7515225" y="3295652"/>
            <a:chExt cx="3295650" cy="1743075"/>
          </a:xfrm>
        </p:grpSpPr>
        <p:sp>
          <p:nvSpPr>
            <p:cNvPr id="20" name="object 20"/>
            <p:cNvSpPr/>
            <p:nvPr/>
          </p:nvSpPr>
          <p:spPr>
            <a:xfrm>
              <a:off x="7519989" y="3300413"/>
              <a:ext cx="3286125" cy="1733550"/>
            </a:xfrm>
            <a:custGeom>
              <a:avLst/>
              <a:gdLst/>
              <a:ahLst/>
              <a:cxnLst/>
              <a:rect l="l" t="t" r="r" b="b"/>
              <a:pathLst>
                <a:path w="3286125" h="1733550">
                  <a:moveTo>
                    <a:pt x="3236616" y="1733550"/>
                  </a:moveTo>
                  <a:lnTo>
                    <a:pt x="49505" y="1733550"/>
                  </a:lnTo>
                  <a:lnTo>
                    <a:pt x="39627" y="1732642"/>
                  </a:lnTo>
                  <a:lnTo>
                    <a:pt x="3622" y="1703045"/>
                  </a:lnTo>
                  <a:lnTo>
                    <a:pt x="0" y="1684041"/>
                  </a:lnTo>
                  <a:lnTo>
                    <a:pt x="0" y="49505"/>
                  </a:lnTo>
                  <a:lnTo>
                    <a:pt x="22124" y="8155"/>
                  </a:lnTo>
                  <a:lnTo>
                    <a:pt x="49505" y="0"/>
                  </a:lnTo>
                  <a:lnTo>
                    <a:pt x="3236616" y="0"/>
                  </a:lnTo>
                  <a:lnTo>
                    <a:pt x="3277965" y="22124"/>
                  </a:lnTo>
                  <a:lnTo>
                    <a:pt x="3286125" y="49505"/>
                  </a:lnTo>
                  <a:lnTo>
                    <a:pt x="3286125" y="1684041"/>
                  </a:lnTo>
                  <a:lnTo>
                    <a:pt x="3263996" y="1725391"/>
                  </a:lnTo>
                  <a:lnTo>
                    <a:pt x="3236616" y="173355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4750" y="3305174"/>
              <a:ext cx="3276600" cy="17240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519987" y="3300415"/>
              <a:ext cx="3286125" cy="1733550"/>
            </a:xfrm>
            <a:custGeom>
              <a:avLst/>
              <a:gdLst/>
              <a:ahLst/>
              <a:cxnLst/>
              <a:rect l="l" t="t" r="r" b="b"/>
              <a:pathLst>
                <a:path w="3286125" h="1733550">
                  <a:moveTo>
                    <a:pt x="0" y="1684039"/>
                  </a:moveTo>
                  <a:lnTo>
                    <a:pt x="0" y="49501"/>
                  </a:lnTo>
                  <a:lnTo>
                    <a:pt x="0" y="42938"/>
                  </a:lnTo>
                  <a:lnTo>
                    <a:pt x="1257" y="36623"/>
                  </a:lnTo>
                  <a:lnTo>
                    <a:pt x="3771" y="30556"/>
                  </a:lnTo>
                  <a:lnTo>
                    <a:pt x="6276" y="24488"/>
                  </a:lnTo>
                  <a:lnTo>
                    <a:pt x="9858" y="19135"/>
                  </a:lnTo>
                  <a:lnTo>
                    <a:pt x="42938" y="0"/>
                  </a:lnTo>
                  <a:lnTo>
                    <a:pt x="49510" y="0"/>
                  </a:lnTo>
                  <a:lnTo>
                    <a:pt x="3236614" y="0"/>
                  </a:lnTo>
                  <a:lnTo>
                    <a:pt x="3243186" y="0"/>
                  </a:lnTo>
                  <a:lnTo>
                    <a:pt x="3249501" y="1257"/>
                  </a:lnTo>
                  <a:lnTo>
                    <a:pt x="3279838" y="24488"/>
                  </a:lnTo>
                  <a:lnTo>
                    <a:pt x="3282353" y="30556"/>
                  </a:lnTo>
                  <a:lnTo>
                    <a:pt x="3284867" y="36623"/>
                  </a:lnTo>
                  <a:lnTo>
                    <a:pt x="3286125" y="42938"/>
                  </a:lnTo>
                  <a:lnTo>
                    <a:pt x="3286125" y="49501"/>
                  </a:lnTo>
                  <a:lnTo>
                    <a:pt x="3286125" y="1684039"/>
                  </a:lnTo>
                  <a:lnTo>
                    <a:pt x="3286125" y="1690601"/>
                  </a:lnTo>
                  <a:lnTo>
                    <a:pt x="3284867" y="1696916"/>
                  </a:lnTo>
                  <a:lnTo>
                    <a:pt x="3282353" y="1702984"/>
                  </a:lnTo>
                  <a:lnTo>
                    <a:pt x="3279838" y="1709051"/>
                  </a:lnTo>
                  <a:lnTo>
                    <a:pt x="3276266" y="1714404"/>
                  </a:lnTo>
                  <a:lnTo>
                    <a:pt x="3271627" y="1719043"/>
                  </a:lnTo>
                  <a:lnTo>
                    <a:pt x="3266979" y="1723691"/>
                  </a:lnTo>
                  <a:lnTo>
                    <a:pt x="3261626" y="1727263"/>
                  </a:lnTo>
                  <a:lnTo>
                    <a:pt x="3255559" y="1729778"/>
                  </a:lnTo>
                  <a:lnTo>
                    <a:pt x="3249501" y="1732292"/>
                  </a:lnTo>
                  <a:lnTo>
                    <a:pt x="3243186" y="1733550"/>
                  </a:lnTo>
                  <a:lnTo>
                    <a:pt x="3236614" y="1733550"/>
                  </a:lnTo>
                  <a:lnTo>
                    <a:pt x="49510" y="1733550"/>
                  </a:lnTo>
                  <a:lnTo>
                    <a:pt x="42938" y="1733550"/>
                  </a:lnTo>
                  <a:lnTo>
                    <a:pt x="36623" y="1732292"/>
                  </a:lnTo>
                  <a:lnTo>
                    <a:pt x="30556" y="1729778"/>
                  </a:lnTo>
                  <a:lnTo>
                    <a:pt x="24498" y="1727263"/>
                  </a:lnTo>
                  <a:lnTo>
                    <a:pt x="19145" y="1723691"/>
                  </a:lnTo>
                  <a:lnTo>
                    <a:pt x="14497" y="1719043"/>
                  </a:lnTo>
                  <a:lnTo>
                    <a:pt x="9858" y="1714404"/>
                  </a:lnTo>
                  <a:lnTo>
                    <a:pt x="6276" y="1709051"/>
                  </a:lnTo>
                  <a:lnTo>
                    <a:pt x="3771" y="1702984"/>
                  </a:lnTo>
                  <a:lnTo>
                    <a:pt x="1257" y="1696916"/>
                  </a:lnTo>
                  <a:lnTo>
                    <a:pt x="0" y="1690601"/>
                  </a:lnTo>
                  <a:lnTo>
                    <a:pt x="0" y="1684039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7150" y="3457574"/>
              <a:ext cx="466725" cy="4667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24028" y="3576765"/>
              <a:ext cx="182167" cy="21852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668320" y="4060761"/>
            <a:ext cx="2663825" cy="7931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5" dirty="0">
                <a:solidFill>
                  <a:srgbClr val="384653"/>
                </a:solidFill>
                <a:latin typeface="Verdana"/>
                <a:cs typeface="Verdana"/>
              </a:rPr>
              <a:t>Enhanced</a:t>
            </a:r>
            <a:r>
              <a:rPr sz="1500" spc="-6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384653"/>
                </a:solidFill>
                <a:latin typeface="Verdana"/>
                <a:cs typeface="Verdana"/>
              </a:rPr>
              <a:t>Resilience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30200"/>
              </a:lnSpc>
              <a:spcBef>
                <a:spcPts val="465"/>
              </a:spcBef>
            </a:pP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Achieving higher </a:t>
            </a:r>
            <a:r>
              <a:rPr sz="1200" spc="-25" dirty="0">
                <a:solidFill>
                  <a:srgbClr val="384653"/>
                </a:solidFill>
                <a:latin typeface="Trebuchet MS"/>
                <a:cs typeface="Trebuchet MS"/>
              </a:rPr>
              <a:t>availability</a:t>
            </a:r>
            <a:r>
              <a:rPr sz="120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20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Trebuchet MS"/>
                <a:cs typeface="Trebuchet MS"/>
              </a:rPr>
              <a:t>critical </a:t>
            </a:r>
            <a:r>
              <a:rPr sz="1200" spc="-10" dirty="0">
                <a:solidFill>
                  <a:srgbClr val="384653"/>
                </a:solidFill>
                <a:latin typeface="Trebuchet MS"/>
                <a:cs typeface="Trebuchet MS"/>
              </a:rPr>
              <a:t>services.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7466" y="566229"/>
            <a:ext cx="221996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60" dirty="0">
                <a:solidFill>
                  <a:srgbClr val="2D3B4E"/>
                </a:solidFill>
                <a:latin typeface="Verdana"/>
                <a:cs typeface="Verdana"/>
              </a:rPr>
              <a:t>Problem</a:t>
            </a:r>
            <a:r>
              <a:rPr sz="1000" spc="-4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2D3B4E"/>
                </a:solidFill>
                <a:latin typeface="Verdana"/>
                <a:cs typeface="Verdana"/>
              </a:rPr>
              <a:t>Statement:</a:t>
            </a:r>
            <a:r>
              <a:rPr sz="1000" spc="-4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2D3B4E"/>
                </a:solidFill>
                <a:latin typeface="Verdana"/>
                <a:cs typeface="Verdana"/>
              </a:rPr>
              <a:t>Production</a:t>
            </a:r>
            <a:r>
              <a:rPr sz="1000" spc="-4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D3B4E"/>
                </a:solidFill>
                <a:latin typeface="Verdana"/>
                <a:cs typeface="Verdana"/>
              </a:rPr>
              <a:t>&amp;</a:t>
            </a:r>
            <a:r>
              <a:rPr sz="1000" spc="-4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2D3B4E"/>
                </a:solidFill>
                <a:latin typeface="Verdana"/>
                <a:cs typeface="Verdana"/>
              </a:rPr>
              <a:t>BCP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7466" y="754545"/>
            <a:ext cx="8301990" cy="328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110" dirty="0"/>
              <a:t>Transitioning</a:t>
            </a:r>
            <a:r>
              <a:rPr sz="1950" spc="-65" dirty="0"/>
              <a:t> </a:t>
            </a:r>
            <a:r>
              <a:rPr sz="1950" spc="-60" dirty="0"/>
              <a:t>to </a:t>
            </a:r>
            <a:r>
              <a:rPr sz="1950" dirty="0"/>
              <a:t>a</a:t>
            </a:r>
            <a:r>
              <a:rPr sz="1950" spc="-65" dirty="0"/>
              <a:t> </a:t>
            </a:r>
            <a:r>
              <a:rPr sz="1950" spc="-100" dirty="0"/>
              <a:t>Four-</a:t>
            </a:r>
            <a:r>
              <a:rPr sz="1950" spc="-95" dirty="0"/>
              <a:t>Datacenter</a:t>
            </a:r>
            <a:r>
              <a:rPr sz="1950" spc="-60" dirty="0"/>
              <a:t> </a:t>
            </a:r>
            <a:r>
              <a:rPr sz="1950" spc="-35" dirty="0"/>
              <a:t>Model</a:t>
            </a:r>
            <a:r>
              <a:rPr sz="1950" spc="-60" dirty="0"/>
              <a:t> </a:t>
            </a:r>
            <a:r>
              <a:rPr sz="1950" spc="-90" dirty="0"/>
              <a:t>with</a:t>
            </a:r>
            <a:r>
              <a:rPr sz="1950" spc="-65" dirty="0"/>
              <a:t> Cross-</a:t>
            </a:r>
            <a:r>
              <a:rPr sz="1950" spc="-70" dirty="0"/>
              <a:t>Cluster</a:t>
            </a:r>
            <a:r>
              <a:rPr sz="1950" spc="-60" dirty="0"/>
              <a:t> </a:t>
            </a:r>
            <a:r>
              <a:rPr sz="1950" spc="-50" dirty="0"/>
              <a:t>Replication</a:t>
            </a:r>
            <a:endParaRPr sz="1950"/>
          </a:p>
        </p:txBody>
      </p:sp>
      <p:sp>
        <p:nvSpPr>
          <p:cNvPr id="4" name="object 4"/>
          <p:cNvSpPr txBox="1"/>
          <p:nvPr/>
        </p:nvSpPr>
        <p:spPr>
          <a:xfrm>
            <a:off x="607466" y="1162875"/>
            <a:ext cx="10147300" cy="2705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-635">
              <a:lnSpc>
                <a:spcPct val="101600"/>
              </a:lnSpc>
              <a:spcBef>
                <a:spcPts val="75"/>
              </a:spcBef>
            </a:pP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Our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GRDA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application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5" dirty="0">
                <a:solidFill>
                  <a:srgbClr val="374552"/>
                </a:solidFill>
                <a:latin typeface="Trebuchet MS"/>
                <a:cs typeface="Trebuchet MS"/>
              </a:rPr>
              <a:t>currently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operates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with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two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Elasticsearch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clusters: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Production cluster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in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Shoreview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DC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Business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Continuity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Planning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(BCP)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cluster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in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Tempe DC.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The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new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enterprise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requirement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dictates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deployment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across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four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centers,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 necessitating a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significant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architectural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shift.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581149"/>
            <a:ext cx="3228974" cy="32289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9125" y="520065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82" y="0"/>
                </a:moveTo>
                <a:lnTo>
                  <a:pt x="12392" y="0"/>
                </a:lnTo>
                <a:lnTo>
                  <a:pt x="10571" y="361"/>
                </a:lnTo>
                <a:lnTo>
                  <a:pt x="0" y="12392"/>
                </a:lnTo>
                <a:lnTo>
                  <a:pt x="0" y="16182"/>
                </a:lnTo>
                <a:lnTo>
                  <a:pt x="12392" y="28575"/>
                </a:lnTo>
                <a:lnTo>
                  <a:pt x="16182" y="28575"/>
                </a:lnTo>
                <a:lnTo>
                  <a:pt x="28575" y="16182"/>
                </a:lnTo>
                <a:lnTo>
                  <a:pt x="28575" y="14287"/>
                </a:lnTo>
                <a:lnTo>
                  <a:pt x="28575" y="12392"/>
                </a:lnTo>
                <a:lnTo>
                  <a:pt x="18003" y="361"/>
                </a:lnTo>
                <a:lnTo>
                  <a:pt x="1618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9125" y="534352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82" y="0"/>
                </a:moveTo>
                <a:lnTo>
                  <a:pt x="12392" y="0"/>
                </a:lnTo>
                <a:lnTo>
                  <a:pt x="10571" y="361"/>
                </a:lnTo>
                <a:lnTo>
                  <a:pt x="0" y="12392"/>
                </a:lnTo>
                <a:lnTo>
                  <a:pt x="0" y="16177"/>
                </a:lnTo>
                <a:lnTo>
                  <a:pt x="12392" y="28575"/>
                </a:lnTo>
                <a:lnTo>
                  <a:pt x="16182" y="28575"/>
                </a:lnTo>
                <a:lnTo>
                  <a:pt x="28575" y="16177"/>
                </a:lnTo>
                <a:lnTo>
                  <a:pt x="28575" y="14287"/>
                </a:lnTo>
                <a:lnTo>
                  <a:pt x="28575" y="12392"/>
                </a:lnTo>
                <a:lnTo>
                  <a:pt x="18003" y="361"/>
                </a:lnTo>
                <a:lnTo>
                  <a:pt x="1618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7466" y="4865344"/>
            <a:ext cx="3249295" cy="730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90" dirty="0">
                <a:solidFill>
                  <a:srgbClr val="2D3B4E"/>
                </a:solidFill>
                <a:latin typeface="Verdana"/>
                <a:cs typeface="Verdana"/>
              </a:rPr>
              <a:t>East</a:t>
            </a:r>
            <a:r>
              <a:rPr sz="12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2D3B4E"/>
                </a:solidFill>
                <a:latin typeface="Verdana"/>
                <a:cs typeface="Verdana"/>
              </a:rPr>
              <a:t>Coast</a:t>
            </a:r>
            <a:r>
              <a:rPr sz="1200" spc="-25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D3B4E"/>
                </a:solidFill>
                <a:latin typeface="Verdana"/>
                <a:cs typeface="Verdana"/>
              </a:rPr>
              <a:t>Cluster</a:t>
            </a:r>
            <a:endParaRPr sz="1200">
              <a:latin typeface="Verdana"/>
              <a:cs typeface="Verdana"/>
            </a:endParaRPr>
          </a:p>
          <a:p>
            <a:pPr marL="173355" marR="2446655">
              <a:lnSpc>
                <a:spcPct val="117200"/>
              </a:lnSpc>
              <a:spcBef>
                <a:spcPts val="445"/>
              </a:spcBef>
            </a:pP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Sterling</a:t>
            </a:r>
            <a:r>
              <a:rPr sz="800" spc="-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DC </a:t>
            </a:r>
            <a:r>
              <a:rPr sz="800" spc="30" dirty="0">
                <a:solidFill>
                  <a:srgbClr val="374552"/>
                </a:solidFill>
                <a:latin typeface="Trebuchet MS"/>
                <a:cs typeface="Trebuchet MS"/>
              </a:rPr>
              <a:t>Manassas</a:t>
            </a:r>
            <a:r>
              <a:rPr sz="800" spc="7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DC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These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two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DCs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40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form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cohesive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cluster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within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East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Coast</a:t>
            </a:r>
            <a:r>
              <a:rPr sz="8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region.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8350" y="1581149"/>
            <a:ext cx="3228974" cy="322897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848350" y="520065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79" y="0"/>
                </a:moveTo>
                <a:lnTo>
                  <a:pt x="12395" y="0"/>
                </a:lnTo>
                <a:lnTo>
                  <a:pt x="10566" y="361"/>
                </a:lnTo>
                <a:lnTo>
                  <a:pt x="0" y="12392"/>
                </a:lnTo>
                <a:lnTo>
                  <a:pt x="0" y="16182"/>
                </a:lnTo>
                <a:lnTo>
                  <a:pt x="12395" y="28575"/>
                </a:lnTo>
                <a:lnTo>
                  <a:pt x="16179" y="28575"/>
                </a:lnTo>
                <a:lnTo>
                  <a:pt x="28575" y="16182"/>
                </a:lnTo>
                <a:lnTo>
                  <a:pt x="28575" y="14287"/>
                </a:lnTo>
                <a:lnTo>
                  <a:pt x="28575" y="12392"/>
                </a:lnTo>
                <a:lnTo>
                  <a:pt x="18008" y="361"/>
                </a:lnTo>
                <a:lnTo>
                  <a:pt x="1617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48350" y="534352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79" y="0"/>
                </a:moveTo>
                <a:lnTo>
                  <a:pt x="12395" y="0"/>
                </a:lnTo>
                <a:lnTo>
                  <a:pt x="10566" y="361"/>
                </a:lnTo>
                <a:lnTo>
                  <a:pt x="0" y="12392"/>
                </a:lnTo>
                <a:lnTo>
                  <a:pt x="0" y="16177"/>
                </a:lnTo>
                <a:lnTo>
                  <a:pt x="12395" y="28575"/>
                </a:lnTo>
                <a:lnTo>
                  <a:pt x="16179" y="28575"/>
                </a:lnTo>
                <a:lnTo>
                  <a:pt x="28575" y="16177"/>
                </a:lnTo>
                <a:lnTo>
                  <a:pt x="28575" y="14287"/>
                </a:lnTo>
                <a:lnTo>
                  <a:pt x="28575" y="12392"/>
                </a:lnTo>
                <a:lnTo>
                  <a:pt x="18008" y="361"/>
                </a:lnTo>
                <a:lnTo>
                  <a:pt x="1617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34748" y="4865344"/>
            <a:ext cx="2770505" cy="730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80" dirty="0">
                <a:solidFill>
                  <a:srgbClr val="2D3B4E"/>
                </a:solidFill>
                <a:latin typeface="Verdana"/>
                <a:cs typeface="Verdana"/>
              </a:rPr>
              <a:t>West</a:t>
            </a:r>
            <a:r>
              <a:rPr sz="12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2D3B4E"/>
                </a:solidFill>
                <a:latin typeface="Verdana"/>
                <a:cs typeface="Verdana"/>
              </a:rPr>
              <a:t>Coast</a:t>
            </a:r>
            <a:r>
              <a:rPr sz="12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D3B4E"/>
                </a:solidFill>
                <a:latin typeface="Verdana"/>
                <a:cs typeface="Verdana"/>
              </a:rPr>
              <a:t>Cluster</a:t>
            </a:r>
            <a:endParaRPr sz="1200">
              <a:latin typeface="Verdana"/>
              <a:cs typeface="Verdana"/>
            </a:endParaRPr>
          </a:p>
          <a:p>
            <a:pPr marL="173355" marR="1996439">
              <a:lnSpc>
                <a:spcPct val="117200"/>
              </a:lnSpc>
              <a:spcBef>
                <a:spcPts val="445"/>
              </a:spcBef>
            </a:pP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Garland</a:t>
            </a:r>
            <a:r>
              <a:rPr sz="8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5" dirty="0">
                <a:solidFill>
                  <a:srgbClr val="374552"/>
                </a:solidFill>
                <a:latin typeface="Trebuchet MS"/>
                <a:cs typeface="Trebuchet MS"/>
              </a:rPr>
              <a:t>DC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Lewisville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DC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800" spc="-40" dirty="0">
                <a:solidFill>
                  <a:srgbClr val="374552"/>
                </a:solidFill>
                <a:latin typeface="Trebuchet MS"/>
                <a:cs typeface="Trebuchet MS"/>
              </a:rPr>
              <a:t>Similarly,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 these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two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DCs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40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comprise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West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Coast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cluster.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453" y="5706301"/>
            <a:ext cx="926782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Cross-Cluster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Replication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(CCR)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40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be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established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between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3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East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Coast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West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Coast regions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ensure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synchronization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and disaster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5" dirty="0">
                <a:solidFill>
                  <a:srgbClr val="374552"/>
                </a:solidFill>
                <a:latin typeface="Trebuchet MS"/>
                <a:cs typeface="Trebuchet MS"/>
              </a:rPr>
              <a:t>recovery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capabilities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across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374552"/>
                </a:solidFill>
                <a:latin typeface="Trebuchet MS"/>
                <a:cs typeface="Trebuchet MS"/>
              </a:rPr>
              <a:t>geographically</a:t>
            </a:r>
            <a:r>
              <a:rPr sz="8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74552"/>
                </a:solidFill>
                <a:latin typeface="Trebuchet MS"/>
                <a:cs typeface="Trebuchet MS"/>
              </a:rPr>
              <a:t>dispersed </a:t>
            </a:r>
            <a:r>
              <a:rPr sz="800" spc="-10" dirty="0">
                <a:solidFill>
                  <a:srgbClr val="374552"/>
                </a:solidFill>
                <a:latin typeface="Trebuchet MS"/>
                <a:cs typeface="Trebuchet MS"/>
              </a:rPr>
              <a:t>clusters.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359"/>
              </a:spcBef>
            </a:pPr>
            <a:r>
              <a:rPr spc="-65" dirty="0"/>
              <a:t>Problem</a:t>
            </a:r>
            <a:r>
              <a:rPr spc="20" dirty="0"/>
              <a:t> </a:t>
            </a:r>
            <a:r>
              <a:rPr spc="-114" dirty="0"/>
              <a:t>Statement:</a:t>
            </a:r>
            <a:r>
              <a:rPr spc="25" dirty="0"/>
              <a:t> </a:t>
            </a:r>
            <a:r>
              <a:rPr spc="-45" dirty="0"/>
              <a:t>Non-</a:t>
            </a:r>
            <a:r>
              <a:rPr spc="-10" dirty="0"/>
              <a:t>Production</a:t>
            </a:r>
          </a:p>
          <a:p>
            <a:pPr marL="13970" marR="5080">
              <a:lnSpc>
                <a:spcPct val="104500"/>
              </a:lnSpc>
              <a:spcBef>
                <a:spcPts val="309"/>
              </a:spcBef>
            </a:pPr>
            <a:r>
              <a:rPr sz="3050" spc="-195" dirty="0"/>
              <a:t>Streamlined</a:t>
            </a:r>
            <a:r>
              <a:rPr sz="3050" spc="-85" dirty="0"/>
              <a:t> </a:t>
            </a:r>
            <a:r>
              <a:rPr sz="3050" spc="-100" dirty="0"/>
              <a:t>Non-</a:t>
            </a:r>
            <a:r>
              <a:rPr sz="3050" spc="-140" dirty="0"/>
              <a:t>Prod</a:t>
            </a:r>
            <a:r>
              <a:rPr sz="3050" spc="-85" dirty="0"/>
              <a:t> </a:t>
            </a:r>
            <a:r>
              <a:rPr sz="3050" spc="-204" dirty="0"/>
              <a:t>Environments</a:t>
            </a:r>
            <a:r>
              <a:rPr sz="3050" spc="-90" dirty="0"/>
              <a:t> </a:t>
            </a:r>
            <a:r>
              <a:rPr sz="3050" spc="-130" dirty="0"/>
              <a:t>for</a:t>
            </a:r>
            <a:r>
              <a:rPr sz="3050" spc="-85" dirty="0"/>
              <a:t> </a:t>
            </a:r>
            <a:r>
              <a:rPr sz="3050" spc="-190" dirty="0"/>
              <a:t>Development</a:t>
            </a:r>
            <a:r>
              <a:rPr sz="3050" spc="-85" dirty="0"/>
              <a:t> </a:t>
            </a:r>
            <a:r>
              <a:rPr sz="3050" spc="-50" dirty="0"/>
              <a:t>&amp; </a:t>
            </a:r>
            <a:r>
              <a:rPr sz="3050" spc="-55" dirty="0"/>
              <a:t>Testing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1970918"/>
            <a:ext cx="10207625" cy="7207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>
              <a:lnSpc>
                <a:spcPct val="127600"/>
              </a:lnSpc>
              <a:spcBef>
                <a:spcPts val="55"/>
              </a:spcBef>
            </a:pP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Unlike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production,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non-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production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Elasticsearch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environments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GRDA</a:t>
            </a:r>
            <a:r>
              <a:rPr sz="12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application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not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inherit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complex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high-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availability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setups.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 This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simplified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architecture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aims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provide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dedicated,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isolated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environments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for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development,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testing,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user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acceptance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74552"/>
                </a:solidFill>
                <a:latin typeface="Trebuchet MS"/>
                <a:cs typeface="Trebuchet MS"/>
              </a:rPr>
              <a:t>phases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without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overhead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of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CCR.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9124" y="2895600"/>
            <a:ext cx="3295650" cy="2619375"/>
            <a:chOff x="619124" y="2895600"/>
            <a:chExt cx="3295650" cy="2619375"/>
          </a:xfrm>
        </p:grpSpPr>
        <p:sp>
          <p:nvSpPr>
            <p:cNvPr id="5" name="object 5"/>
            <p:cNvSpPr/>
            <p:nvPr/>
          </p:nvSpPr>
          <p:spPr>
            <a:xfrm>
              <a:off x="628649" y="3124199"/>
              <a:ext cx="3276600" cy="2381250"/>
            </a:xfrm>
            <a:custGeom>
              <a:avLst/>
              <a:gdLst/>
              <a:ahLst/>
              <a:cxnLst/>
              <a:rect l="l" t="t" r="r" b="b"/>
              <a:pathLst>
                <a:path w="3276600" h="2381250">
                  <a:moveTo>
                    <a:pt x="321430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336502"/>
                  </a:lnTo>
                  <a:lnTo>
                    <a:pt x="0" y="2342436"/>
                  </a:lnTo>
                  <a:lnTo>
                    <a:pt x="22141" y="2375570"/>
                  </a:lnTo>
                  <a:lnTo>
                    <a:pt x="38809" y="2381246"/>
                  </a:lnTo>
                  <a:lnTo>
                    <a:pt x="3237788" y="2381246"/>
                  </a:lnTo>
                  <a:lnTo>
                    <a:pt x="3270923" y="2359110"/>
                  </a:lnTo>
                  <a:lnTo>
                    <a:pt x="3276600" y="2342436"/>
                  </a:lnTo>
                  <a:lnTo>
                    <a:pt x="3276600" y="71196"/>
                  </a:lnTo>
                  <a:lnTo>
                    <a:pt x="3262934" y="29705"/>
                  </a:lnTo>
                  <a:lnTo>
                    <a:pt x="3231400" y="3886"/>
                  </a:lnTo>
                  <a:lnTo>
                    <a:pt x="3218637" y="482"/>
                  </a:lnTo>
                  <a:lnTo>
                    <a:pt x="3214306" y="0"/>
                  </a:lnTo>
                  <a:close/>
                </a:path>
              </a:pathLst>
            </a:custGeom>
            <a:solidFill>
              <a:srgbClr val="F9F9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112" y="3125050"/>
              <a:ext cx="3295650" cy="2390140"/>
            </a:xfrm>
            <a:custGeom>
              <a:avLst/>
              <a:gdLst/>
              <a:ahLst/>
              <a:cxnLst/>
              <a:rect l="l" t="t" r="r" b="b"/>
              <a:pathLst>
                <a:path w="3295650" h="2390140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19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2335657"/>
                  </a:lnTo>
                  <a:lnTo>
                    <a:pt x="3265767" y="2360993"/>
                  </a:lnTo>
                  <a:lnTo>
                    <a:pt x="3260864" y="2365070"/>
                  </a:lnTo>
                  <a:lnTo>
                    <a:pt x="3254908" y="2368296"/>
                  </a:lnTo>
                  <a:lnTo>
                    <a:pt x="3248418" y="2370239"/>
                  </a:lnTo>
                  <a:lnTo>
                    <a:pt x="3241383" y="2370886"/>
                  </a:lnTo>
                  <a:lnTo>
                    <a:pt x="54279" y="2370886"/>
                  </a:lnTo>
                  <a:lnTo>
                    <a:pt x="47244" y="2370239"/>
                  </a:lnTo>
                  <a:lnTo>
                    <a:pt x="40754" y="2368296"/>
                  </a:lnTo>
                  <a:lnTo>
                    <a:pt x="34798" y="2365070"/>
                  </a:lnTo>
                  <a:lnTo>
                    <a:pt x="29883" y="2361006"/>
                  </a:lnTo>
                  <a:lnTo>
                    <a:pt x="29375" y="2360561"/>
                  </a:lnTo>
                  <a:lnTo>
                    <a:pt x="24853" y="2355138"/>
                  </a:lnTo>
                  <a:lnTo>
                    <a:pt x="21640" y="2349182"/>
                  </a:lnTo>
                  <a:lnTo>
                    <a:pt x="19697" y="2342692"/>
                  </a:lnTo>
                  <a:lnTo>
                    <a:pt x="19050" y="2335657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342858"/>
                  </a:lnTo>
                  <a:lnTo>
                    <a:pt x="20993" y="2379116"/>
                  </a:lnTo>
                  <a:lnTo>
                    <a:pt x="47078" y="2389936"/>
                  </a:lnTo>
                  <a:lnTo>
                    <a:pt x="3248571" y="2389936"/>
                  </a:lnTo>
                  <a:lnTo>
                    <a:pt x="3255505" y="2388552"/>
                  </a:lnTo>
                  <a:lnTo>
                    <a:pt x="3268802" y="2383040"/>
                  </a:lnTo>
                  <a:lnTo>
                    <a:pt x="3274669" y="2379116"/>
                  </a:lnTo>
                  <a:lnTo>
                    <a:pt x="3279279" y="2374506"/>
                  </a:lnTo>
                  <a:lnTo>
                    <a:pt x="3279762" y="2374036"/>
                  </a:lnTo>
                  <a:lnTo>
                    <a:pt x="3284842" y="2368943"/>
                  </a:lnTo>
                  <a:lnTo>
                    <a:pt x="3288766" y="2363076"/>
                  </a:lnTo>
                  <a:lnTo>
                    <a:pt x="3294265" y="2349779"/>
                  </a:lnTo>
                  <a:lnTo>
                    <a:pt x="3295650" y="2342858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ED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4" y="2895600"/>
              <a:ext cx="3295649" cy="457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3154" y="3038659"/>
              <a:ext cx="194283" cy="16662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81443" y="3498786"/>
            <a:ext cx="2945130" cy="157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85" dirty="0">
                <a:solidFill>
                  <a:srgbClr val="374552"/>
                </a:solidFill>
                <a:latin typeface="Verdana"/>
                <a:cs typeface="Verdana"/>
              </a:rPr>
              <a:t>Development</a:t>
            </a:r>
            <a:r>
              <a:rPr sz="15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374552"/>
                </a:solidFill>
                <a:latin typeface="Verdana"/>
                <a:cs typeface="Verdana"/>
              </a:rPr>
              <a:t>(DEV)</a:t>
            </a:r>
            <a:endParaRPr sz="15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Dedicated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DC: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Sterling</a:t>
            </a:r>
            <a:endParaRPr sz="1200" dirty="0">
              <a:latin typeface="Trebuchet MS"/>
              <a:cs typeface="Trebuchet MS"/>
            </a:endParaRPr>
          </a:p>
          <a:p>
            <a:pPr marL="12700" marR="5080">
              <a:lnSpc>
                <a:spcPct val="126699"/>
              </a:lnSpc>
              <a:spcBef>
                <a:spcPts val="725"/>
              </a:spcBef>
            </a:pPr>
            <a:r>
              <a:rPr sz="1200" b="1" spc="-25" dirty="0">
                <a:solidFill>
                  <a:srgbClr val="374552"/>
                </a:solidFill>
                <a:latin typeface="Trebuchet MS"/>
                <a:cs typeface="Trebuchet MS"/>
              </a:rPr>
              <a:t>Currently</a:t>
            </a:r>
            <a:r>
              <a:rPr sz="1200" spc="-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in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74552"/>
                </a:solidFill>
                <a:latin typeface="Trebuchet MS"/>
                <a:cs typeface="Trebuchet MS"/>
              </a:rPr>
              <a:t>St.</a:t>
            </a:r>
            <a:r>
              <a:rPr sz="1200" b="1" spc="-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374552"/>
                </a:solidFill>
                <a:latin typeface="Trebuchet MS"/>
                <a:cs typeface="Trebuchet MS"/>
              </a:rPr>
              <a:t>Louis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,</a:t>
            </a:r>
            <a:r>
              <a:rPr sz="1200" spc="-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74552"/>
                </a:solidFill>
                <a:latin typeface="Trebuchet MS"/>
                <a:cs typeface="Trebuchet MS"/>
              </a:rPr>
              <a:t>DEV</a:t>
            </a:r>
            <a:r>
              <a:rPr sz="1200" b="1" spc="-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will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transition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to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1200" spc="-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74552"/>
                </a:solidFill>
                <a:latin typeface="Trebuchet MS"/>
                <a:cs typeface="Trebuchet MS"/>
              </a:rPr>
              <a:t>dedicated</a:t>
            </a:r>
            <a:r>
              <a:rPr sz="1200" b="1" spc="-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74552"/>
                </a:solidFill>
                <a:latin typeface="Trebuchet MS"/>
                <a:cs typeface="Trebuchet MS"/>
              </a:rPr>
              <a:t>Sterling</a:t>
            </a:r>
            <a:r>
              <a:rPr sz="1200" b="1" spc="-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374552"/>
                </a:solidFill>
                <a:latin typeface="Trebuchet MS"/>
                <a:cs typeface="Trebuchet MS"/>
              </a:rPr>
              <a:t>DC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,</a:t>
            </a:r>
            <a:r>
              <a:rPr sz="1200" spc="-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offering</a:t>
            </a:r>
            <a:r>
              <a:rPr sz="1200" spc="-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an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isolated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environment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 code</a:t>
            </a:r>
            <a:r>
              <a:rPr sz="1200" spc="5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development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 and</a:t>
            </a:r>
            <a:r>
              <a:rPr sz="12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initial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testing.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4" y="2895600"/>
            <a:ext cx="3295650" cy="2619375"/>
            <a:chOff x="4067174" y="2895600"/>
            <a:chExt cx="3295650" cy="2619375"/>
          </a:xfrm>
        </p:grpSpPr>
        <p:sp>
          <p:nvSpPr>
            <p:cNvPr id="11" name="object 11"/>
            <p:cNvSpPr/>
            <p:nvPr/>
          </p:nvSpPr>
          <p:spPr>
            <a:xfrm>
              <a:off x="4076699" y="3124199"/>
              <a:ext cx="3276600" cy="2381250"/>
            </a:xfrm>
            <a:custGeom>
              <a:avLst/>
              <a:gdLst/>
              <a:ahLst/>
              <a:cxnLst/>
              <a:rect l="l" t="t" r="r" b="b"/>
              <a:pathLst>
                <a:path w="3276600" h="2381250">
                  <a:moveTo>
                    <a:pt x="321430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336502"/>
                  </a:lnTo>
                  <a:lnTo>
                    <a:pt x="0" y="2342436"/>
                  </a:lnTo>
                  <a:lnTo>
                    <a:pt x="22136" y="2375570"/>
                  </a:lnTo>
                  <a:lnTo>
                    <a:pt x="38811" y="2381246"/>
                  </a:lnTo>
                  <a:lnTo>
                    <a:pt x="3237788" y="2381246"/>
                  </a:lnTo>
                  <a:lnTo>
                    <a:pt x="3270923" y="2359110"/>
                  </a:lnTo>
                  <a:lnTo>
                    <a:pt x="3276600" y="2342436"/>
                  </a:lnTo>
                  <a:lnTo>
                    <a:pt x="3276600" y="71196"/>
                  </a:lnTo>
                  <a:lnTo>
                    <a:pt x="3262934" y="29705"/>
                  </a:lnTo>
                  <a:lnTo>
                    <a:pt x="3231400" y="3886"/>
                  </a:lnTo>
                  <a:lnTo>
                    <a:pt x="3218637" y="482"/>
                  </a:lnTo>
                  <a:lnTo>
                    <a:pt x="3214306" y="0"/>
                  </a:lnTo>
                  <a:close/>
                </a:path>
              </a:pathLst>
            </a:custGeom>
            <a:solidFill>
              <a:srgbClr val="F9F9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7162" y="3125050"/>
              <a:ext cx="3295650" cy="2390140"/>
            </a:xfrm>
            <a:custGeom>
              <a:avLst/>
              <a:gdLst/>
              <a:ahLst/>
              <a:cxnLst/>
              <a:rect l="l" t="t" r="r" b="b"/>
              <a:pathLst>
                <a:path w="3295650" h="2390140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2335657"/>
                  </a:lnTo>
                  <a:lnTo>
                    <a:pt x="3265767" y="2360993"/>
                  </a:lnTo>
                  <a:lnTo>
                    <a:pt x="3260864" y="2365070"/>
                  </a:lnTo>
                  <a:lnTo>
                    <a:pt x="3254908" y="2368296"/>
                  </a:lnTo>
                  <a:lnTo>
                    <a:pt x="3248418" y="2370239"/>
                  </a:lnTo>
                  <a:lnTo>
                    <a:pt x="3241383" y="2370886"/>
                  </a:lnTo>
                  <a:lnTo>
                    <a:pt x="54267" y="2370886"/>
                  </a:lnTo>
                  <a:lnTo>
                    <a:pt x="47244" y="2370239"/>
                  </a:lnTo>
                  <a:lnTo>
                    <a:pt x="40754" y="2368296"/>
                  </a:lnTo>
                  <a:lnTo>
                    <a:pt x="34798" y="2365070"/>
                  </a:lnTo>
                  <a:lnTo>
                    <a:pt x="29883" y="2361006"/>
                  </a:lnTo>
                  <a:lnTo>
                    <a:pt x="29375" y="2360561"/>
                  </a:lnTo>
                  <a:lnTo>
                    <a:pt x="24853" y="2355138"/>
                  </a:lnTo>
                  <a:lnTo>
                    <a:pt x="21640" y="2349182"/>
                  </a:lnTo>
                  <a:lnTo>
                    <a:pt x="19697" y="2342692"/>
                  </a:lnTo>
                  <a:lnTo>
                    <a:pt x="19050" y="2335657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342858"/>
                  </a:lnTo>
                  <a:lnTo>
                    <a:pt x="1371" y="2349779"/>
                  </a:lnTo>
                  <a:lnTo>
                    <a:pt x="6883" y="2363076"/>
                  </a:lnTo>
                  <a:lnTo>
                    <a:pt x="10807" y="2368943"/>
                  </a:lnTo>
                  <a:lnTo>
                    <a:pt x="15900" y="2374036"/>
                  </a:lnTo>
                  <a:lnTo>
                    <a:pt x="20980" y="2379116"/>
                  </a:lnTo>
                  <a:lnTo>
                    <a:pt x="26847" y="2383040"/>
                  </a:lnTo>
                  <a:lnTo>
                    <a:pt x="40144" y="2388552"/>
                  </a:lnTo>
                  <a:lnTo>
                    <a:pt x="47078" y="2389936"/>
                  </a:lnTo>
                  <a:lnTo>
                    <a:pt x="3248571" y="2389936"/>
                  </a:lnTo>
                  <a:lnTo>
                    <a:pt x="3255505" y="2388552"/>
                  </a:lnTo>
                  <a:lnTo>
                    <a:pt x="3268802" y="2383040"/>
                  </a:lnTo>
                  <a:lnTo>
                    <a:pt x="3274669" y="2379116"/>
                  </a:lnTo>
                  <a:lnTo>
                    <a:pt x="3279279" y="2374506"/>
                  </a:lnTo>
                  <a:lnTo>
                    <a:pt x="3279762" y="2374036"/>
                  </a:lnTo>
                  <a:lnTo>
                    <a:pt x="3284842" y="2368943"/>
                  </a:lnTo>
                  <a:lnTo>
                    <a:pt x="3288766" y="2363076"/>
                  </a:lnTo>
                  <a:lnTo>
                    <a:pt x="3294265" y="2349779"/>
                  </a:lnTo>
                  <a:lnTo>
                    <a:pt x="3295650" y="2342858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ED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7174" y="2895600"/>
              <a:ext cx="3295649" cy="4571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9289" y="3024824"/>
              <a:ext cx="178113" cy="19438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29646" y="3498786"/>
            <a:ext cx="2959735" cy="1345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95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5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500" spc="-95" dirty="0">
                <a:solidFill>
                  <a:srgbClr val="374552"/>
                </a:solidFill>
                <a:latin typeface="Verdana"/>
                <a:cs typeface="Verdana"/>
              </a:rPr>
              <a:t>Integration</a:t>
            </a:r>
            <a:r>
              <a:rPr sz="15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500" spc="-95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5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374552"/>
                </a:solidFill>
                <a:latin typeface="Verdana"/>
                <a:cs typeface="Verdana"/>
              </a:rPr>
              <a:t>(SIT)</a:t>
            </a:r>
            <a:endParaRPr sz="15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Dedicated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DC: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Lewisville</a:t>
            </a:r>
            <a:endParaRPr sz="1200" dirty="0">
              <a:latin typeface="Trebuchet MS"/>
              <a:cs typeface="Trebuchet MS"/>
            </a:endParaRPr>
          </a:p>
          <a:p>
            <a:pPr marL="12700" marR="5080">
              <a:lnSpc>
                <a:spcPct val="127600"/>
              </a:lnSpc>
              <a:spcBef>
                <a:spcPts val="710"/>
              </a:spcBef>
            </a:pP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SIT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,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also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currently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in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74552"/>
                </a:solidFill>
                <a:latin typeface="Trebuchet MS"/>
                <a:cs typeface="Trebuchet MS"/>
              </a:rPr>
              <a:t>St.</a:t>
            </a:r>
            <a:r>
              <a:rPr sz="1200" b="1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374552"/>
                </a:solidFill>
                <a:latin typeface="Trebuchet MS"/>
                <a:cs typeface="Trebuchet MS"/>
              </a:rPr>
              <a:t>Louis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, 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move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to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374552"/>
                </a:solidFill>
                <a:latin typeface="Trebuchet MS"/>
                <a:cs typeface="Trebuchet MS"/>
              </a:rPr>
              <a:t>dedicated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Lewisville</a:t>
            </a:r>
            <a:r>
              <a:rPr sz="1200" b="1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374552"/>
                </a:solidFill>
                <a:latin typeface="Trebuchet MS"/>
                <a:cs typeface="Trebuchet MS"/>
              </a:rPr>
              <a:t>DC,</a:t>
            </a:r>
            <a:r>
              <a:rPr sz="1200" b="1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facilitating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comprehensive</a:t>
            </a:r>
            <a:r>
              <a:rPr sz="1200" spc="6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integration</a:t>
            </a:r>
            <a:r>
              <a:rPr sz="1200" spc="6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testing.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15224" y="2895600"/>
            <a:ext cx="3295650" cy="2619375"/>
            <a:chOff x="7515224" y="2895600"/>
            <a:chExt cx="3295650" cy="2619375"/>
          </a:xfrm>
        </p:grpSpPr>
        <p:sp>
          <p:nvSpPr>
            <p:cNvPr id="17" name="object 17"/>
            <p:cNvSpPr/>
            <p:nvPr/>
          </p:nvSpPr>
          <p:spPr>
            <a:xfrm>
              <a:off x="7524749" y="3124199"/>
              <a:ext cx="3276600" cy="2381250"/>
            </a:xfrm>
            <a:custGeom>
              <a:avLst/>
              <a:gdLst/>
              <a:ahLst/>
              <a:cxnLst/>
              <a:rect l="l" t="t" r="r" b="b"/>
              <a:pathLst>
                <a:path w="3276600" h="2381250">
                  <a:moveTo>
                    <a:pt x="321430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336502"/>
                  </a:lnTo>
                  <a:lnTo>
                    <a:pt x="0" y="2342436"/>
                  </a:lnTo>
                  <a:lnTo>
                    <a:pt x="22136" y="2375570"/>
                  </a:lnTo>
                  <a:lnTo>
                    <a:pt x="38811" y="2381246"/>
                  </a:lnTo>
                  <a:lnTo>
                    <a:pt x="3237788" y="2381246"/>
                  </a:lnTo>
                  <a:lnTo>
                    <a:pt x="3270923" y="2359110"/>
                  </a:lnTo>
                  <a:lnTo>
                    <a:pt x="3276600" y="2342436"/>
                  </a:lnTo>
                  <a:lnTo>
                    <a:pt x="3276600" y="71196"/>
                  </a:lnTo>
                  <a:lnTo>
                    <a:pt x="3262934" y="29705"/>
                  </a:lnTo>
                  <a:lnTo>
                    <a:pt x="3231388" y="3886"/>
                  </a:lnTo>
                  <a:lnTo>
                    <a:pt x="3218637" y="482"/>
                  </a:lnTo>
                  <a:lnTo>
                    <a:pt x="3214306" y="0"/>
                  </a:lnTo>
                  <a:close/>
                </a:path>
              </a:pathLst>
            </a:custGeom>
            <a:solidFill>
              <a:srgbClr val="F9F9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15212" y="3125050"/>
              <a:ext cx="3295650" cy="2390140"/>
            </a:xfrm>
            <a:custGeom>
              <a:avLst/>
              <a:gdLst/>
              <a:ahLst/>
              <a:cxnLst/>
              <a:rect l="l" t="t" r="r" b="b"/>
              <a:pathLst>
                <a:path w="3295650" h="2390140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2335657"/>
                  </a:lnTo>
                  <a:lnTo>
                    <a:pt x="3265767" y="2360993"/>
                  </a:lnTo>
                  <a:lnTo>
                    <a:pt x="3260864" y="2365070"/>
                  </a:lnTo>
                  <a:lnTo>
                    <a:pt x="3254908" y="2368296"/>
                  </a:lnTo>
                  <a:lnTo>
                    <a:pt x="3248418" y="2370239"/>
                  </a:lnTo>
                  <a:lnTo>
                    <a:pt x="3241383" y="2370886"/>
                  </a:lnTo>
                  <a:lnTo>
                    <a:pt x="54267" y="2370886"/>
                  </a:lnTo>
                  <a:lnTo>
                    <a:pt x="47244" y="2370239"/>
                  </a:lnTo>
                  <a:lnTo>
                    <a:pt x="40754" y="2368296"/>
                  </a:lnTo>
                  <a:lnTo>
                    <a:pt x="34798" y="2365070"/>
                  </a:lnTo>
                  <a:lnTo>
                    <a:pt x="29883" y="2361006"/>
                  </a:lnTo>
                  <a:lnTo>
                    <a:pt x="29375" y="2360561"/>
                  </a:lnTo>
                  <a:lnTo>
                    <a:pt x="24853" y="2355138"/>
                  </a:lnTo>
                  <a:lnTo>
                    <a:pt x="21640" y="2349182"/>
                  </a:lnTo>
                  <a:lnTo>
                    <a:pt x="19697" y="2342692"/>
                  </a:lnTo>
                  <a:lnTo>
                    <a:pt x="19050" y="2335657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342858"/>
                  </a:lnTo>
                  <a:lnTo>
                    <a:pt x="1371" y="2349779"/>
                  </a:lnTo>
                  <a:lnTo>
                    <a:pt x="6883" y="2363076"/>
                  </a:lnTo>
                  <a:lnTo>
                    <a:pt x="10807" y="2368943"/>
                  </a:lnTo>
                  <a:lnTo>
                    <a:pt x="15900" y="2374036"/>
                  </a:lnTo>
                  <a:lnTo>
                    <a:pt x="20980" y="2379116"/>
                  </a:lnTo>
                  <a:lnTo>
                    <a:pt x="26847" y="2383040"/>
                  </a:lnTo>
                  <a:lnTo>
                    <a:pt x="40144" y="2388552"/>
                  </a:lnTo>
                  <a:lnTo>
                    <a:pt x="47078" y="2389936"/>
                  </a:lnTo>
                  <a:lnTo>
                    <a:pt x="3248571" y="2389936"/>
                  </a:lnTo>
                  <a:lnTo>
                    <a:pt x="3255492" y="2388552"/>
                  </a:lnTo>
                  <a:lnTo>
                    <a:pt x="3268802" y="2383040"/>
                  </a:lnTo>
                  <a:lnTo>
                    <a:pt x="3274669" y="2379116"/>
                  </a:lnTo>
                  <a:lnTo>
                    <a:pt x="3279279" y="2374506"/>
                  </a:lnTo>
                  <a:lnTo>
                    <a:pt x="3279762" y="2374036"/>
                  </a:lnTo>
                  <a:lnTo>
                    <a:pt x="3284842" y="2368943"/>
                  </a:lnTo>
                  <a:lnTo>
                    <a:pt x="3288766" y="2363076"/>
                  </a:lnTo>
                  <a:lnTo>
                    <a:pt x="3294265" y="2349779"/>
                  </a:lnTo>
                  <a:lnTo>
                    <a:pt x="3295650" y="2342858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ED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5224" y="2895600"/>
              <a:ext cx="3295649" cy="4571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82958" y="3024829"/>
              <a:ext cx="166901" cy="19428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677848" y="3498786"/>
            <a:ext cx="2839085" cy="182181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616585">
              <a:lnSpc>
                <a:spcPct val="104200"/>
              </a:lnSpc>
              <a:spcBef>
                <a:spcPts val="50"/>
              </a:spcBef>
            </a:pPr>
            <a:r>
              <a:rPr sz="1500" spc="-85" dirty="0">
                <a:solidFill>
                  <a:srgbClr val="374552"/>
                </a:solidFill>
                <a:latin typeface="Verdana"/>
                <a:cs typeface="Verdana"/>
              </a:rPr>
              <a:t>User</a:t>
            </a:r>
            <a:r>
              <a:rPr sz="15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374552"/>
                </a:solidFill>
                <a:latin typeface="Verdana"/>
                <a:cs typeface="Verdana"/>
              </a:rPr>
              <a:t>Acceptance</a:t>
            </a:r>
            <a:r>
              <a:rPr sz="15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374552"/>
                </a:solidFill>
                <a:latin typeface="Verdana"/>
                <a:cs typeface="Verdana"/>
              </a:rPr>
              <a:t>Testing </a:t>
            </a:r>
            <a:r>
              <a:rPr sz="1500" spc="-10" dirty="0">
                <a:solidFill>
                  <a:srgbClr val="374552"/>
                </a:solidFill>
                <a:latin typeface="Verdana"/>
                <a:cs typeface="Verdana"/>
              </a:rPr>
              <a:t>(UAT/PTE)</a:t>
            </a:r>
            <a:endParaRPr sz="15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Dedicated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DCs: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60" dirty="0">
                <a:solidFill>
                  <a:srgbClr val="374552"/>
                </a:solidFill>
                <a:latin typeface="Trebuchet MS"/>
                <a:cs typeface="Trebuchet MS"/>
              </a:rPr>
              <a:t>Manassas</a:t>
            </a: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0" dirty="0">
                <a:solidFill>
                  <a:srgbClr val="374552"/>
                </a:solidFill>
                <a:latin typeface="Trebuchet MS"/>
                <a:cs typeface="Trebuchet MS"/>
              </a:rPr>
              <a:t>&amp;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Garland</a:t>
            </a:r>
            <a:endParaRPr sz="1200" dirty="0">
              <a:latin typeface="Trebuchet MS"/>
              <a:cs typeface="Trebuchet MS"/>
            </a:endParaRPr>
          </a:p>
          <a:p>
            <a:pPr marL="12700" marR="5080">
              <a:lnSpc>
                <a:spcPct val="128499"/>
              </a:lnSpc>
              <a:spcBef>
                <a:spcPts val="700"/>
              </a:spcBef>
            </a:pP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UAT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/</a:t>
            </a:r>
            <a:r>
              <a:rPr sz="1200" b="1" spc="-10" dirty="0">
                <a:solidFill>
                  <a:srgbClr val="374552"/>
                </a:solidFill>
                <a:latin typeface="Trebuchet MS"/>
                <a:cs typeface="Trebuchet MS"/>
              </a:rPr>
              <a:t>PTE</a:t>
            </a:r>
            <a:r>
              <a:rPr sz="1200" b="1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utilize</a:t>
            </a:r>
            <a:r>
              <a:rPr sz="12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374552"/>
                </a:solidFill>
                <a:latin typeface="Trebuchet MS"/>
                <a:cs typeface="Trebuchet MS"/>
              </a:rPr>
              <a:t>two</a:t>
            </a:r>
            <a:r>
              <a:rPr sz="1200" b="1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374552"/>
                </a:solidFill>
                <a:latin typeface="Trebuchet MS"/>
                <a:cs typeface="Trebuchet MS"/>
              </a:rPr>
              <a:t>dedicated</a:t>
            </a:r>
            <a:r>
              <a:rPr sz="1200" b="1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374552"/>
                </a:solidFill>
                <a:latin typeface="Trebuchet MS"/>
                <a:cs typeface="Trebuchet MS"/>
              </a:rPr>
              <a:t>DCs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, </a:t>
            </a:r>
            <a:r>
              <a:rPr sz="1200" b="1" spc="60" dirty="0">
                <a:solidFill>
                  <a:srgbClr val="374552"/>
                </a:solidFill>
                <a:latin typeface="Trebuchet MS"/>
                <a:cs typeface="Trebuchet MS"/>
              </a:rPr>
              <a:t>Manassas</a:t>
            </a:r>
            <a:r>
              <a:rPr sz="1200" b="1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200" spc="-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374552"/>
                </a:solidFill>
                <a:latin typeface="Trebuchet MS"/>
                <a:cs typeface="Trebuchet MS"/>
              </a:rPr>
              <a:t>Garland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,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simulate</a:t>
            </a:r>
            <a:r>
              <a:rPr sz="12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real-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world</a:t>
            </a:r>
            <a:r>
              <a:rPr sz="12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scenarios</a:t>
            </a:r>
            <a:r>
              <a:rPr sz="12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2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handle</a:t>
            </a:r>
            <a:r>
              <a:rPr sz="12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performance testing.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7466" y="5690209"/>
            <a:ext cx="944689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Each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non-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production </a:t>
            </a:r>
            <a:r>
              <a:rPr sz="1200" spc="65" dirty="0">
                <a:solidFill>
                  <a:srgbClr val="374552"/>
                </a:solidFill>
                <a:latin typeface="Trebuchet MS"/>
                <a:cs typeface="Trebuchet MS"/>
              </a:rPr>
              <a:t>DC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operate </a:t>
            </a:r>
            <a:r>
              <a:rPr sz="1200" spc="-35" dirty="0">
                <a:solidFill>
                  <a:srgbClr val="374552"/>
                </a:solidFill>
                <a:latin typeface="Trebuchet MS"/>
                <a:cs typeface="Trebuchet MS"/>
              </a:rPr>
              <a:t>independently,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Trebuchet MS"/>
                <a:cs typeface="Trebuchet MS"/>
              </a:rPr>
              <a:t>without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CCR,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reducing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complexity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resource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requirements</a:t>
            </a:r>
            <a:r>
              <a:rPr sz="12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for </a:t>
            </a:r>
            <a:r>
              <a:rPr sz="1200" dirty="0">
                <a:solidFill>
                  <a:srgbClr val="374552"/>
                </a:solidFill>
                <a:latin typeface="Trebuchet MS"/>
                <a:cs typeface="Trebuchet MS"/>
              </a:rPr>
              <a:t>these</a:t>
            </a:r>
            <a:r>
              <a:rPr sz="1200" spc="-10" dirty="0">
                <a:solidFill>
                  <a:srgbClr val="374552"/>
                </a:solidFill>
                <a:latin typeface="Trebuchet MS"/>
                <a:cs typeface="Trebuchet MS"/>
              </a:rPr>
              <a:t> environments.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9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5675" y="404393"/>
            <a:ext cx="156781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75" dirty="0">
                <a:solidFill>
                  <a:srgbClr val="2D3B4E"/>
                </a:solidFill>
                <a:latin typeface="Verdana"/>
                <a:cs typeface="Verdana"/>
              </a:rPr>
              <a:t>Current</a:t>
            </a:r>
            <a:r>
              <a:rPr sz="115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150" spc="-85" dirty="0">
                <a:solidFill>
                  <a:srgbClr val="2D3B4E"/>
                </a:solidFill>
                <a:latin typeface="Verdana"/>
                <a:cs typeface="Verdana"/>
              </a:rPr>
              <a:t>State</a:t>
            </a:r>
            <a:r>
              <a:rPr sz="1150" spc="-25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150" spc="-60" dirty="0">
                <a:solidFill>
                  <a:srgbClr val="2D3B4E"/>
                </a:solidFill>
                <a:latin typeface="Verdana"/>
                <a:cs typeface="Verdana"/>
              </a:rPr>
              <a:t>Definition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5675" y="621385"/>
            <a:ext cx="62680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-114" dirty="0"/>
              <a:t>Understanding</a:t>
            </a:r>
            <a:r>
              <a:rPr sz="2250" spc="-25" dirty="0"/>
              <a:t> </a:t>
            </a:r>
            <a:r>
              <a:rPr sz="2250" spc="-114" dirty="0"/>
              <a:t>Existing</a:t>
            </a:r>
            <a:r>
              <a:rPr sz="2250" spc="-25" dirty="0"/>
              <a:t> </a:t>
            </a:r>
            <a:r>
              <a:rPr sz="2250" spc="-95" dirty="0"/>
              <a:t>Elasticsearch</a:t>
            </a:r>
            <a:r>
              <a:rPr sz="2250" spc="-25" dirty="0"/>
              <a:t> </a:t>
            </a:r>
            <a:r>
              <a:rPr sz="2250" spc="-160" dirty="0"/>
              <a:t>Data</a:t>
            </a:r>
            <a:r>
              <a:rPr sz="2250" spc="-25" dirty="0"/>
              <a:t> </a:t>
            </a:r>
            <a:r>
              <a:rPr sz="2250" spc="-20" dirty="0"/>
              <a:t>Flow</a:t>
            </a:r>
            <a:endParaRPr sz="2250"/>
          </a:p>
        </p:txBody>
      </p:sp>
      <p:sp>
        <p:nvSpPr>
          <p:cNvPr id="5" name="object 5"/>
          <p:cNvSpPr txBox="1"/>
          <p:nvPr/>
        </p:nvSpPr>
        <p:spPr>
          <a:xfrm>
            <a:off x="605680" y="1096335"/>
            <a:ext cx="97980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11100"/>
              </a:lnSpc>
              <a:spcBef>
                <a:spcPts val="95"/>
              </a:spcBef>
            </a:pP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The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current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GRDA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application's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Elasticsearch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implementation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relies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 on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a specific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9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writing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 and synchronization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mechanism.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This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understanding</a:t>
            </a:r>
            <a:r>
              <a:rPr sz="9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is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crucial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 a smooth</a:t>
            </a:r>
            <a:r>
              <a:rPr sz="9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transition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Trebuchet MS"/>
                <a:cs typeface="Trebuchet MS"/>
              </a:rPr>
              <a:t>new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architecture.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76524" y="2769666"/>
            <a:ext cx="5482590" cy="1838960"/>
            <a:chOff x="3076524" y="2769666"/>
            <a:chExt cx="5482590" cy="1838960"/>
          </a:xfrm>
        </p:grpSpPr>
        <p:sp>
          <p:nvSpPr>
            <p:cNvPr id="7" name="object 7"/>
            <p:cNvSpPr/>
            <p:nvPr/>
          </p:nvSpPr>
          <p:spPr>
            <a:xfrm>
              <a:off x="3080334" y="2773476"/>
              <a:ext cx="1464945" cy="944880"/>
            </a:xfrm>
            <a:custGeom>
              <a:avLst/>
              <a:gdLst/>
              <a:ahLst/>
              <a:cxnLst/>
              <a:rect l="l" t="t" r="r" b="b"/>
              <a:pathLst>
                <a:path w="1464945" h="944879">
                  <a:moveTo>
                    <a:pt x="1464881" y="0"/>
                  </a:moveTo>
                  <a:lnTo>
                    <a:pt x="0" y="0"/>
                  </a:lnTo>
                  <a:lnTo>
                    <a:pt x="0" y="944600"/>
                  </a:lnTo>
                  <a:lnTo>
                    <a:pt x="1206754" y="944600"/>
                  </a:lnTo>
                  <a:lnTo>
                    <a:pt x="1206754" y="232486"/>
                  </a:lnTo>
                  <a:lnTo>
                    <a:pt x="1335722" y="115100"/>
                  </a:lnTo>
                  <a:lnTo>
                    <a:pt x="1464881" y="0"/>
                  </a:lnTo>
                  <a:close/>
                </a:path>
              </a:pathLst>
            </a:custGeom>
            <a:solidFill>
              <a:srgbClr val="245B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0334" y="2773476"/>
              <a:ext cx="1464945" cy="944880"/>
            </a:xfrm>
            <a:custGeom>
              <a:avLst/>
              <a:gdLst/>
              <a:ahLst/>
              <a:cxnLst/>
              <a:rect l="l" t="t" r="r" b="b"/>
              <a:pathLst>
                <a:path w="1464945" h="944879">
                  <a:moveTo>
                    <a:pt x="0" y="0"/>
                  </a:moveTo>
                  <a:lnTo>
                    <a:pt x="1464881" y="0"/>
                  </a:lnTo>
                  <a:lnTo>
                    <a:pt x="1335722" y="115100"/>
                  </a:lnTo>
                  <a:lnTo>
                    <a:pt x="1206754" y="232486"/>
                  </a:lnTo>
                  <a:lnTo>
                    <a:pt x="1206754" y="944600"/>
                  </a:lnTo>
                  <a:lnTo>
                    <a:pt x="0" y="944600"/>
                  </a:lnTo>
                  <a:lnTo>
                    <a:pt x="0" y="0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80560" y="2773476"/>
              <a:ext cx="260350" cy="233679"/>
            </a:xfrm>
            <a:custGeom>
              <a:avLst/>
              <a:gdLst/>
              <a:ahLst/>
              <a:cxnLst/>
              <a:rect l="l" t="t" r="r" b="b"/>
              <a:pathLst>
                <a:path w="260350" h="233680">
                  <a:moveTo>
                    <a:pt x="259918" y="0"/>
                  </a:moveTo>
                  <a:lnTo>
                    <a:pt x="0" y="233172"/>
                  </a:lnTo>
                  <a:lnTo>
                    <a:pt x="259918" y="233172"/>
                  </a:lnTo>
                  <a:lnTo>
                    <a:pt x="259918" y="0"/>
                  </a:lnTo>
                  <a:close/>
                </a:path>
              </a:pathLst>
            </a:custGeom>
            <a:solidFill>
              <a:srgbClr val="2B6C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80560" y="2773476"/>
              <a:ext cx="260350" cy="233679"/>
            </a:xfrm>
            <a:custGeom>
              <a:avLst/>
              <a:gdLst/>
              <a:ahLst/>
              <a:cxnLst/>
              <a:rect l="l" t="t" r="r" b="b"/>
              <a:pathLst>
                <a:path w="260350" h="233680">
                  <a:moveTo>
                    <a:pt x="259918" y="233172"/>
                  </a:moveTo>
                  <a:lnTo>
                    <a:pt x="259918" y="0"/>
                  </a:lnTo>
                  <a:lnTo>
                    <a:pt x="0" y="233172"/>
                  </a:lnTo>
                  <a:lnTo>
                    <a:pt x="259918" y="233172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80560" y="3002826"/>
              <a:ext cx="1464945" cy="944880"/>
            </a:xfrm>
            <a:custGeom>
              <a:avLst/>
              <a:gdLst/>
              <a:ahLst/>
              <a:cxnLst/>
              <a:rect l="l" t="t" r="r" b="b"/>
              <a:pathLst>
                <a:path w="1464945" h="944879">
                  <a:moveTo>
                    <a:pt x="1464868" y="0"/>
                  </a:moveTo>
                  <a:lnTo>
                    <a:pt x="0" y="0"/>
                  </a:lnTo>
                  <a:lnTo>
                    <a:pt x="0" y="944587"/>
                  </a:lnTo>
                  <a:lnTo>
                    <a:pt x="1206741" y="944587"/>
                  </a:lnTo>
                  <a:lnTo>
                    <a:pt x="1206741" y="232486"/>
                  </a:lnTo>
                  <a:lnTo>
                    <a:pt x="1335722" y="115087"/>
                  </a:lnTo>
                  <a:lnTo>
                    <a:pt x="1464868" y="0"/>
                  </a:lnTo>
                  <a:close/>
                </a:path>
              </a:pathLst>
            </a:custGeom>
            <a:solidFill>
              <a:srgbClr val="317B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80560" y="3002826"/>
              <a:ext cx="1464945" cy="944880"/>
            </a:xfrm>
            <a:custGeom>
              <a:avLst/>
              <a:gdLst/>
              <a:ahLst/>
              <a:cxnLst/>
              <a:rect l="l" t="t" r="r" b="b"/>
              <a:pathLst>
                <a:path w="1464945" h="944879">
                  <a:moveTo>
                    <a:pt x="0" y="0"/>
                  </a:moveTo>
                  <a:lnTo>
                    <a:pt x="1464868" y="0"/>
                  </a:lnTo>
                  <a:lnTo>
                    <a:pt x="1335722" y="115087"/>
                  </a:lnTo>
                  <a:lnTo>
                    <a:pt x="1206741" y="232486"/>
                  </a:lnTo>
                  <a:lnTo>
                    <a:pt x="1206741" y="944587"/>
                  </a:lnTo>
                  <a:lnTo>
                    <a:pt x="0" y="944587"/>
                  </a:lnTo>
                  <a:lnTo>
                    <a:pt x="0" y="0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0773" y="3002826"/>
              <a:ext cx="260350" cy="233679"/>
            </a:xfrm>
            <a:custGeom>
              <a:avLst/>
              <a:gdLst/>
              <a:ahLst/>
              <a:cxnLst/>
              <a:rect l="l" t="t" r="r" b="b"/>
              <a:pathLst>
                <a:path w="260350" h="233680">
                  <a:moveTo>
                    <a:pt x="259918" y="0"/>
                  </a:moveTo>
                  <a:lnTo>
                    <a:pt x="0" y="233159"/>
                  </a:lnTo>
                  <a:lnTo>
                    <a:pt x="259918" y="233159"/>
                  </a:lnTo>
                  <a:lnTo>
                    <a:pt x="259918" y="0"/>
                  </a:lnTo>
                  <a:close/>
                </a:path>
              </a:pathLst>
            </a:custGeom>
            <a:solidFill>
              <a:srgbClr val="378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0773" y="3002826"/>
              <a:ext cx="260350" cy="233679"/>
            </a:xfrm>
            <a:custGeom>
              <a:avLst/>
              <a:gdLst/>
              <a:ahLst/>
              <a:cxnLst/>
              <a:rect l="l" t="t" r="r" b="b"/>
              <a:pathLst>
                <a:path w="260350" h="233680">
                  <a:moveTo>
                    <a:pt x="259918" y="233159"/>
                  </a:moveTo>
                  <a:lnTo>
                    <a:pt x="259918" y="0"/>
                  </a:lnTo>
                  <a:lnTo>
                    <a:pt x="0" y="233159"/>
                  </a:lnTo>
                  <a:lnTo>
                    <a:pt x="259918" y="233159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0773" y="3232162"/>
              <a:ext cx="1464945" cy="944880"/>
            </a:xfrm>
            <a:custGeom>
              <a:avLst/>
              <a:gdLst/>
              <a:ahLst/>
              <a:cxnLst/>
              <a:rect l="l" t="t" r="r" b="b"/>
              <a:pathLst>
                <a:path w="1464945" h="944879">
                  <a:moveTo>
                    <a:pt x="1464881" y="0"/>
                  </a:moveTo>
                  <a:lnTo>
                    <a:pt x="0" y="0"/>
                  </a:lnTo>
                  <a:lnTo>
                    <a:pt x="0" y="944600"/>
                  </a:lnTo>
                  <a:lnTo>
                    <a:pt x="1206754" y="944600"/>
                  </a:lnTo>
                  <a:lnTo>
                    <a:pt x="1206754" y="232486"/>
                  </a:lnTo>
                  <a:lnTo>
                    <a:pt x="1335722" y="115087"/>
                  </a:lnTo>
                  <a:lnTo>
                    <a:pt x="1464881" y="0"/>
                  </a:lnTo>
                  <a:close/>
                </a:path>
              </a:pathLst>
            </a:custGeom>
            <a:solidFill>
              <a:srgbClr val="3E9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0773" y="3232162"/>
              <a:ext cx="1464945" cy="944880"/>
            </a:xfrm>
            <a:custGeom>
              <a:avLst/>
              <a:gdLst/>
              <a:ahLst/>
              <a:cxnLst/>
              <a:rect l="l" t="t" r="r" b="b"/>
              <a:pathLst>
                <a:path w="1464945" h="944879">
                  <a:moveTo>
                    <a:pt x="0" y="0"/>
                  </a:moveTo>
                  <a:lnTo>
                    <a:pt x="1464881" y="0"/>
                  </a:lnTo>
                  <a:lnTo>
                    <a:pt x="1335722" y="115087"/>
                  </a:lnTo>
                  <a:lnTo>
                    <a:pt x="1206754" y="232486"/>
                  </a:lnTo>
                  <a:lnTo>
                    <a:pt x="1206754" y="944600"/>
                  </a:lnTo>
                  <a:lnTo>
                    <a:pt x="0" y="944600"/>
                  </a:lnTo>
                  <a:lnTo>
                    <a:pt x="0" y="0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80999" y="3232162"/>
              <a:ext cx="260350" cy="233679"/>
            </a:xfrm>
            <a:custGeom>
              <a:avLst/>
              <a:gdLst/>
              <a:ahLst/>
              <a:cxnLst/>
              <a:rect l="l" t="t" r="r" b="b"/>
              <a:pathLst>
                <a:path w="260350" h="233679">
                  <a:moveTo>
                    <a:pt x="259918" y="0"/>
                  </a:moveTo>
                  <a:lnTo>
                    <a:pt x="0" y="233159"/>
                  </a:lnTo>
                  <a:lnTo>
                    <a:pt x="259918" y="233159"/>
                  </a:lnTo>
                  <a:lnTo>
                    <a:pt x="259918" y="0"/>
                  </a:lnTo>
                  <a:close/>
                </a:path>
              </a:pathLst>
            </a:custGeom>
            <a:solidFill>
              <a:srgbClr val="4DA8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80999" y="3232162"/>
              <a:ext cx="260350" cy="233679"/>
            </a:xfrm>
            <a:custGeom>
              <a:avLst/>
              <a:gdLst/>
              <a:ahLst/>
              <a:cxnLst/>
              <a:rect l="l" t="t" r="r" b="b"/>
              <a:pathLst>
                <a:path w="260350" h="233679">
                  <a:moveTo>
                    <a:pt x="259918" y="233159"/>
                  </a:moveTo>
                  <a:lnTo>
                    <a:pt x="259918" y="0"/>
                  </a:lnTo>
                  <a:lnTo>
                    <a:pt x="0" y="233159"/>
                  </a:lnTo>
                  <a:lnTo>
                    <a:pt x="259918" y="233159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83985" y="3280359"/>
              <a:ext cx="1871345" cy="1324610"/>
            </a:xfrm>
            <a:custGeom>
              <a:avLst/>
              <a:gdLst/>
              <a:ahLst/>
              <a:cxnLst/>
              <a:rect l="l" t="t" r="r" b="b"/>
              <a:pathLst>
                <a:path w="1871345" h="1324610">
                  <a:moveTo>
                    <a:pt x="1401152" y="0"/>
                  </a:moveTo>
                  <a:lnTo>
                    <a:pt x="1401152" y="180263"/>
                  </a:lnTo>
                  <a:lnTo>
                    <a:pt x="0" y="180263"/>
                  </a:lnTo>
                  <a:lnTo>
                    <a:pt x="0" y="1124839"/>
                  </a:lnTo>
                  <a:lnTo>
                    <a:pt x="1401152" y="1124839"/>
                  </a:lnTo>
                  <a:lnTo>
                    <a:pt x="1401152" y="1324102"/>
                  </a:lnTo>
                  <a:lnTo>
                    <a:pt x="1871306" y="662051"/>
                  </a:lnTo>
                  <a:lnTo>
                    <a:pt x="1401152" y="0"/>
                  </a:lnTo>
                  <a:close/>
                </a:path>
              </a:pathLst>
            </a:custGeom>
            <a:solidFill>
              <a:srgbClr val="5FB1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83985" y="3280359"/>
              <a:ext cx="1871345" cy="1324610"/>
            </a:xfrm>
            <a:custGeom>
              <a:avLst/>
              <a:gdLst/>
              <a:ahLst/>
              <a:cxnLst/>
              <a:rect l="l" t="t" r="r" b="b"/>
              <a:pathLst>
                <a:path w="1871345" h="1324610">
                  <a:moveTo>
                    <a:pt x="1871306" y="662051"/>
                  </a:moveTo>
                  <a:lnTo>
                    <a:pt x="1401152" y="1324102"/>
                  </a:lnTo>
                  <a:lnTo>
                    <a:pt x="1401152" y="1124839"/>
                  </a:lnTo>
                  <a:lnTo>
                    <a:pt x="0" y="1124839"/>
                  </a:lnTo>
                  <a:lnTo>
                    <a:pt x="0" y="180263"/>
                  </a:lnTo>
                  <a:lnTo>
                    <a:pt x="1401152" y="180263"/>
                  </a:lnTo>
                  <a:lnTo>
                    <a:pt x="1401152" y="0"/>
                  </a:lnTo>
                  <a:lnTo>
                    <a:pt x="1871306" y="662051"/>
                  </a:lnTo>
                  <a:close/>
                </a:path>
              </a:pathLst>
            </a:custGeom>
            <a:ln w="7246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90162" y="3232324"/>
              <a:ext cx="158750" cy="155575"/>
            </a:xfrm>
            <a:custGeom>
              <a:avLst/>
              <a:gdLst/>
              <a:ahLst/>
              <a:cxnLst/>
              <a:rect l="l" t="t" r="r" b="b"/>
              <a:pathLst>
                <a:path w="158750" h="155575">
                  <a:moveTo>
                    <a:pt x="158470" y="21618"/>
                  </a:moveTo>
                  <a:lnTo>
                    <a:pt x="122943" y="3870"/>
                  </a:lnTo>
                  <a:lnTo>
                    <a:pt x="96050" y="0"/>
                  </a:lnTo>
                  <a:lnTo>
                    <a:pt x="89346" y="100"/>
                  </a:lnTo>
                  <a:lnTo>
                    <a:pt x="51687" y="10684"/>
                  </a:lnTo>
                  <a:lnTo>
                    <a:pt x="17691" y="39779"/>
                  </a:lnTo>
                  <a:lnTo>
                    <a:pt x="2301" y="75996"/>
                  </a:lnTo>
                  <a:lnTo>
                    <a:pt x="0" y="98110"/>
                  </a:lnTo>
                  <a:lnTo>
                    <a:pt x="457" y="105184"/>
                  </a:lnTo>
                  <a:lnTo>
                    <a:pt x="12217" y="142420"/>
                  </a:lnTo>
                  <a:lnTo>
                    <a:pt x="15532" y="147894"/>
                  </a:lnTo>
                  <a:lnTo>
                    <a:pt x="20193" y="155286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0272" y="3041332"/>
              <a:ext cx="33020" cy="38735"/>
            </a:xfrm>
            <a:custGeom>
              <a:avLst/>
              <a:gdLst/>
              <a:ahLst/>
              <a:cxnLst/>
              <a:rect l="l" t="t" r="r" b="b"/>
              <a:pathLst>
                <a:path w="33020" h="38735">
                  <a:moveTo>
                    <a:pt x="32931" y="0"/>
                  </a:moveTo>
                  <a:lnTo>
                    <a:pt x="825" y="21653"/>
                  </a:lnTo>
                  <a:lnTo>
                    <a:pt x="25" y="30784"/>
                  </a:lnTo>
                  <a:lnTo>
                    <a:pt x="0" y="38531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00297" y="3358730"/>
              <a:ext cx="38735" cy="31750"/>
            </a:xfrm>
            <a:custGeom>
              <a:avLst/>
              <a:gdLst/>
              <a:ahLst/>
              <a:cxnLst/>
              <a:rect l="l" t="t" r="r" b="b"/>
              <a:pathLst>
                <a:path w="38735" h="31750">
                  <a:moveTo>
                    <a:pt x="0" y="0"/>
                  </a:moveTo>
                  <a:lnTo>
                    <a:pt x="25158" y="30899"/>
                  </a:lnTo>
                  <a:lnTo>
                    <a:pt x="30568" y="31140"/>
                  </a:lnTo>
                  <a:lnTo>
                    <a:pt x="38227" y="31203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45801" y="3082061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5">
                  <a:moveTo>
                    <a:pt x="19748" y="0"/>
                  </a:moveTo>
                  <a:lnTo>
                    <a:pt x="0" y="114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45395" y="3082061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20307" y="20015"/>
                  </a:moveTo>
                  <a:lnTo>
                    <a:pt x="20154" y="0"/>
                  </a:lnTo>
                </a:path>
                <a:path w="20320" h="20319">
                  <a:moveTo>
                    <a:pt x="20307" y="20015"/>
                  </a:moveTo>
                  <a:lnTo>
                    <a:pt x="0" y="19824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45395" y="3082175"/>
              <a:ext cx="635" cy="20320"/>
            </a:xfrm>
            <a:custGeom>
              <a:avLst/>
              <a:gdLst/>
              <a:ahLst/>
              <a:cxnLst/>
              <a:rect l="l" t="t" r="r" b="b"/>
              <a:pathLst>
                <a:path w="635" h="20319">
                  <a:moveTo>
                    <a:pt x="406" y="0"/>
                  </a:moveTo>
                  <a:lnTo>
                    <a:pt x="0" y="19710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93731" y="308215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9634" y="0"/>
                  </a:moveTo>
                  <a:lnTo>
                    <a:pt x="0" y="101"/>
                  </a:lnTo>
                </a:path>
                <a:path w="19685" h="19685">
                  <a:moveTo>
                    <a:pt x="19634" y="0"/>
                  </a:moveTo>
                  <a:lnTo>
                    <a:pt x="19265" y="18859"/>
                  </a:lnTo>
                  <a:lnTo>
                    <a:pt x="215" y="19304"/>
                  </a:lnTo>
                  <a:lnTo>
                    <a:pt x="0" y="101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13200" y="3256279"/>
              <a:ext cx="169545" cy="167640"/>
            </a:xfrm>
            <a:custGeom>
              <a:avLst/>
              <a:gdLst/>
              <a:ahLst/>
              <a:cxnLst/>
              <a:rect l="l" t="t" r="r" b="b"/>
              <a:pathLst>
                <a:path w="169545" h="167639">
                  <a:moveTo>
                    <a:pt x="138137" y="0"/>
                  </a:moveTo>
                  <a:lnTo>
                    <a:pt x="142951" y="4445"/>
                  </a:lnTo>
                  <a:lnTo>
                    <a:pt x="147269" y="9321"/>
                  </a:lnTo>
                  <a:lnTo>
                    <a:pt x="151079" y="14643"/>
                  </a:lnTo>
                  <a:lnTo>
                    <a:pt x="154901" y="19964"/>
                  </a:lnTo>
                  <a:lnTo>
                    <a:pt x="168300" y="56578"/>
                  </a:lnTo>
                  <a:lnTo>
                    <a:pt x="169189" y="76161"/>
                  </a:lnTo>
                  <a:lnTo>
                    <a:pt x="168605" y="82638"/>
                  </a:lnTo>
                  <a:lnTo>
                    <a:pt x="156083" y="119570"/>
                  </a:lnTo>
                  <a:lnTo>
                    <a:pt x="152387" y="124980"/>
                  </a:lnTo>
                  <a:lnTo>
                    <a:pt x="148704" y="130390"/>
                  </a:lnTo>
                  <a:lnTo>
                    <a:pt x="124434" y="152019"/>
                  </a:lnTo>
                  <a:lnTo>
                    <a:pt x="118897" y="155536"/>
                  </a:lnTo>
                  <a:lnTo>
                    <a:pt x="81584" y="166827"/>
                  </a:lnTo>
                  <a:lnTo>
                    <a:pt x="75082" y="167195"/>
                  </a:lnTo>
                  <a:lnTo>
                    <a:pt x="68541" y="166903"/>
                  </a:lnTo>
                  <a:lnTo>
                    <a:pt x="62001" y="166611"/>
                  </a:lnTo>
                  <a:lnTo>
                    <a:pt x="55549" y="165658"/>
                  </a:lnTo>
                  <a:lnTo>
                    <a:pt x="49199" y="164045"/>
                  </a:lnTo>
                  <a:lnTo>
                    <a:pt x="42849" y="162433"/>
                  </a:lnTo>
                  <a:lnTo>
                    <a:pt x="36728" y="160197"/>
                  </a:lnTo>
                  <a:lnTo>
                    <a:pt x="30835" y="157340"/>
                  </a:lnTo>
                  <a:lnTo>
                    <a:pt x="24942" y="154482"/>
                  </a:lnTo>
                  <a:lnTo>
                    <a:pt x="19405" y="151053"/>
                  </a:lnTo>
                  <a:lnTo>
                    <a:pt x="14211" y="147066"/>
                  </a:lnTo>
                  <a:lnTo>
                    <a:pt x="9017" y="143065"/>
                  </a:lnTo>
                  <a:lnTo>
                    <a:pt x="4279" y="138595"/>
                  </a:lnTo>
                  <a:lnTo>
                    <a:pt x="0" y="133629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00335" y="3137763"/>
              <a:ext cx="351155" cy="0"/>
            </a:xfrm>
            <a:custGeom>
              <a:avLst/>
              <a:gdLst/>
              <a:ahLst/>
              <a:cxnLst/>
              <a:rect l="l" t="t" r="r" b="b"/>
              <a:pathLst>
                <a:path w="351154">
                  <a:moveTo>
                    <a:pt x="350723" y="0"/>
                  </a:moveTo>
                  <a:lnTo>
                    <a:pt x="0" y="0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1084" y="3072993"/>
              <a:ext cx="635" cy="182880"/>
            </a:xfrm>
            <a:custGeom>
              <a:avLst/>
              <a:gdLst/>
              <a:ahLst/>
              <a:cxnLst/>
              <a:rect l="l" t="t" r="r" b="b"/>
              <a:pathLst>
                <a:path w="635" h="182879">
                  <a:moveTo>
                    <a:pt x="63" y="182638"/>
                  </a:moveTo>
                  <a:lnTo>
                    <a:pt x="0" y="0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00297" y="3140697"/>
              <a:ext cx="635" cy="218440"/>
            </a:xfrm>
            <a:custGeom>
              <a:avLst/>
              <a:gdLst/>
              <a:ahLst/>
              <a:cxnLst/>
              <a:rect l="l" t="t" r="r" b="b"/>
              <a:pathLst>
                <a:path w="635" h="218439">
                  <a:moveTo>
                    <a:pt x="50" y="0"/>
                  </a:moveTo>
                  <a:lnTo>
                    <a:pt x="0" y="218033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41674" y="3082302"/>
              <a:ext cx="19685" cy="635"/>
            </a:xfrm>
            <a:custGeom>
              <a:avLst/>
              <a:gdLst/>
              <a:ahLst/>
              <a:cxnLst/>
              <a:rect l="l" t="t" r="r" b="b"/>
              <a:pathLst>
                <a:path w="19685" h="635">
                  <a:moveTo>
                    <a:pt x="19646" y="0"/>
                  </a:moveTo>
                  <a:lnTo>
                    <a:pt x="0" y="38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41674" y="3082302"/>
              <a:ext cx="20320" cy="19685"/>
            </a:xfrm>
            <a:custGeom>
              <a:avLst/>
              <a:gdLst/>
              <a:ahLst/>
              <a:cxnLst/>
              <a:rect l="l" t="t" r="r" b="b"/>
              <a:pathLst>
                <a:path w="20320" h="19685">
                  <a:moveTo>
                    <a:pt x="19710" y="19062"/>
                  </a:moveTo>
                  <a:lnTo>
                    <a:pt x="19646" y="0"/>
                  </a:lnTo>
                </a:path>
                <a:path w="20320" h="19685">
                  <a:moveTo>
                    <a:pt x="19710" y="19062"/>
                  </a:moveTo>
                  <a:lnTo>
                    <a:pt x="342" y="19164"/>
                  </a:lnTo>
                  <a:lnTo>
                    <a:pt x="0" y="38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72496" y="3295319"/>
              <a:ext cx="60325" cy="64769"/>
            </a:xfrm>
            <a:custGeom>
              <a:avLst/>
              <a:gdLst/>
              <a:ahLst/>
              <a:cxnLst/>
              <a:rect l="l" t="t" r="r" b="b"/>
              <a:pathLst>
                <a:path w="60325" h="64770">
                  <a:moveTo>
                    <a:pt x="59766" y="0"/>
                  </a:moveTo>
                  <a:lnTo>
                    <a:pt x="0" y="64630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38778" y="3326358"/>
              <a:ext cx="34290" cy="33655"/>
            </a:xfrm>
            <a:custGeom>
              <a:avLst/>
              <a:gdLst/>
              <a:ahLst/>
              <a:cxnLst/>
              <a:rect l="l" t="t" r="r" b="b"/>
              <a:pathLst>
                <a:path w="34289" h="33654">
                  <a:moveTo>
                    <a:pt x="0" y="0"/>
                  </a:moveTo>
                  <a:lnTo>
                    <a:pt x="33718" y="33591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13187" y="3041002"/>
              <a:ext cx="38100" cy="32384"/>
            </a:xfrm>
            <a:custGeom>
              <a:avLst/>
              <a:gdLst/>
              <a:ahLst/>
              <a:cxnLst/>
              <a:rect l="l" t="t" r="r" b="b"/>
              <a:pathLst>
                <a:path w="38100" h="32385">
                  <a:moveTo>
                    <a:pt x="37934" y="31991"/>
                  </a:moveTo>
                  <a:lnTo>
                    <a:pt x="38049" y="29616"/>
                  </a:lnTo>
                  <a:lnTo>
                    <a:pt x="37896" y="27254"/>
                  </a:lnTo>
                  <a:lnTo>
                    <a:pt x="37465" y="24904"/>
                  </a:lnTo>
                  <a:lnTo>
                    <a:pt x="37033" y="22555"/>
                  </a:lnTo>
                  <a:lnTo>
                    <a:pt x="20828" y="3073"/>
                  </a:lnTo>
                  <a:lnTo>
                    <a:pt x="18681" y="2032"/>
                  </a:lnTo>
                  <a:lnTo>
                    <a:pt x="16446" y="1257"/>
                  </a:lnTo>
                  <a:lnTo>
                    <a:pt x="14109" y="749"/>
                  </a:lnTo>
                  <a:lnTo>
                    <a:pt x="11785" y="241"/>
                  </a:lnTo>
                  <a:lnTo>
                    <a:pt x="9423" y="0"/>
                  </a:lnTo>
                  <a:lnTo>
                    <a:pt x="7035" y="50"/>
                  </a:lnTo>
                  <a:lnTo>
                    <a:pt x="4648" y="88"/>
                  </a:lnTo>
                  <a:lnTo>
                    <a:pt x="2311" y="419"/>
                  </a:lnTo>
                  <a:lnTo>
                    <a:pt x="0" y="1016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33203" y="3041332"/>
              <a:ext cx="280035" cy="635"/>
            </a:xfrm>
            <a:custGeom>
              <a:avLst/>
              <a:gdLst/>
              <a:ahLst/>
              <a:cxnLst/>
              <a:rect l="l" t="t" r="r" b="b"/>
              <a:pathLst>
                <a:path w="280035" h="635">
                  <a:moveTo>
                    <a:pt x="279806" y="25"/>
                  </a:moveTo>
                  <a:lnTo>
                    <a:pt x="0" y="0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00272" y="3079864"/>
              <a:ext cx="635" cy="60960"/>
            </a:xfrm>
            <a:custGeom>
              <a:avLst/>
              <a:gdLst/>
              <a:ahLst/>
              <a:cxnLst/>
              <a:rect l="l" t="t" r="r" b="b"/>
              <a:pathLst>
                <a:path w="635" h="60960">
                  <a:moveTo>
                    <a:pt x="0" y="0"/>
                  </a:moveTo>
                  <a:lnTo>
                    <a:pt x="76" y="60833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38524" y="3389934"/>
              <a:ext cx="173990" cy="635"/>
            </a:xfrm>
            <a:custGeom>
              <a:avLst/>
              <a:gdLst/>
              <a:ahLst/>
              <a:cxnLst/>
              <a:rect l="l" t="t" r="r" b="b"/>
              <a:pathLst>
                <a:path w="173989" h="635">
                  <a:moveTo>
                    <a:pt x="0" y="0"/>
                  </a:moveTo>
                  <a:lnTo>
                    <a:pt x="173469" y="241"/>
                  </a:lnTo>
                </a:path>
              </a:pathLst>
            </a:custGeom>
            <a:ln w="16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29682" y="3302101"/>
              <a:ext cx="159385" cy="157480"/>
            </a:xfrm>
            <a:custGeom>
              <a:avLst/>
              <a:gdLst/>
              <a:ahLst/>
              <a:cxnLst/>
              <a:rect l="l" t="t" r="r" b="b"/>
              <a:pathLst>
                <a:path w="159385" h="157479">
                  <a:moveTo>
                    <a:pt x="0" y="0"/>
                  </a:moveTo>
                  <a:lnTo>
                    <a:pt x="159067" y="157226"/>
                  </a:lnTo>
                </a:path>
              </a:pathLst>
            </a:custGeom>
            <a:ln w="16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08042" y="3459327"/>
              <a:ext cx="381000" cy="1270"/>
            </a:xfrm>
            <a:custGeom>
              <a:avLst/>
              <a:gdLst/>
              <a:ahLst/>
              <a:cxnLst/>
              <a:rect l="l" t="t" r="r" b="b"/>
              <a:pathLst>
                <a:path w="381000" h="1270">
                  <a:moveTo>
                    <a:pt x="0" y="977"/>
                  </a:moveTo>
                  <a:lnTo>
                    <a:pt x="380707" y="0"/>
                  </a:lnTo>
                </a:path>
              </a:pathLst>
            </a:custGeom>
            <a:ln w="16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29136" y="3460826"/>
              <a:ext cx="161290" cy="160655"/>
            </a:xfrm>
            <a:custGeom>
              <a:avLst/>
              <a:gdLst/>
              <a:ahLst/>
              <a:cxnLst/>
              <a:rect l="l" t="t" r="r" b="b"/>
              <a:pathLst>
                <a:path w="161289" h="160654">
                  <a:moveTo>
                    <a:pt x="0" y="160083"/>
                  </a:moveTo>
                  <a:lnTo>
                    <a:pt x="161137" y="0"/>
                  </a:lnTo>
                </a:path>
              </a:pathLst>
            </a:custGeom>
            <a:ln w="16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050794" y="4056557"/>
            <a:ext cx="13335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374552"/>
                </a:solidFill>
                <a:latin typeface="Verdana"/>
                <a:cs typeface="Verdana"/>
              </a:rPr>
              <a:t>App</a:t>
            </a:r>
            <a:r>
              <a:rPr sz="135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374552"/>
                </a:solidFill>
                <a:latin typeface="Verdana"/>
                <a:cs typeface="Verdana"/>
              </a:rPr>
              <a:t>writes</a:t>
            </a:r>
            <a:r>
              <a:rPr sz="13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35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374552"/>
                </a:solidFill>
                <a:latin typeface="Verdana"/>
                <a:cs typeface="Verdana"/>
              </a:rPr>
              <a:t>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75949" y="2351785"/>
            <a:ext cx="14865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75" dirty="0">
                <a:solidFill>
                  <a:srgbClr val="374552"/>
                </a:solidFill>
                <a:latin typeface="Verdana"/>
                <a:cs typeface="Verdana"/>
              </a:rPr>
              <a:t>Unidirectional</a:t>
            </a:r>
            <a:r>
              <a:rPr sz="135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Verdana"/>
                <a:cs typeface="Verdana"/>
              </a:rPr>
              <a:t>CCR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15762" y="4561103"/>
            <a:ext cx="15919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95" dirty="0">
                <a:solidFill>
                  <a:srgbClr val="374552"/>
                </a:solidFill>
                <a:latin typeface="Verdana"/>
                <a:cs typeface="Verdana"/>
              </a:rPr>
              <a:t>Failover</a:t>
            </a:r>
            <a:r>
              <a:rPr sz="13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3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374552"/>
                </a:solidFill>
                <a:latin typeface="Verdana"/>
                <a:cs typeface="Verdana"/>
              </a:rPr>
              <a:t>other</a:t>
            </a:r>
            <a:r>
              <a:rPr sz="13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374552"/>
                </a:solidFill>
                <a:latin typeface="Verdana"/>
                <a:cs typeface="Verdana"/>
              </a:rPr>
              <a:t>DC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007411" y="3522060"/>
            <a:ext cx="1671955" cy="621030"/>
            <a:chOff x="6007411" y="3522060"/>
            <a:chExt cx="1671955" cy="621030"/>
          </a:xfrm>
        </p:grpSpPr>
        <p:sp>
          <p:nvSpPr>
            <p:cNvPr id="47" name="object 47"/>
            <p:cNvSpPr/>
            <p:nvPr/>
          </p:nvSpPr>
          <p:spPr>
            <a:xfrm>
              <a:off x="6381978" y="3666337"/>
              <a:ext cx="16510" cy="102870"/>
            </a:xfrm>
            <a:custGeom>
              <a:avLst/>
              <a:gdLst/>
              <a:ahLst/>
              <a:cxnLst/>
              <a:rect l="l" t="t" r="r" b="b"/>
              <a:pathLst>
                <a:path w="16510" h="102870">
                  <a:moveTo>
                    <a:pt x="0" y="0"/>
                  </a:moveTo>
                  <a:lnTo>
                    <a:pt x="15703" y="36693"/>
                  </a:lnTo>
                  <a:lnTo>
                    <a:pt x="16042" y="60804"/>
                  </a:lnTo>
                  <a:lnTo>
                    <a:pt x="16141" y="102603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81534" y="3561410"/>
              <a:ext cx="17145" cy="104775"/>
            </a:xfrm>
            <a:custGeom>
              <a:avLst/>
              <a:gdLst/>
              <a:ahLst/>
              <a:cxnLst/>
              <a:rect l="l" t="t" r="r" b="b"/>
              <a:pathLst>
                <a:path w="17145" h="104775">
                  <a:moveTo>
                    <a:pt x="0" y="104419"/>
                  </a:moveTo>
                  <a:lnTo>
                    <a:pt x="16598" y="70040"/>
                  </a:lnTo>
                  <a:lnTo>
                    <a:pt x="16573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58051" y="3768940"/>
              <a:ext cx="40640" cy="32384"/>
            </a:xfrm>
            <a:custGeom>
              <a:avLst/>
              <a:gdLst/>
              <a:ahLst/>
              <a:cxnLst/>
              <a:rect l="l" t="t" r="r" b="b"/>
              <a:pathLst>
                <a:path w="40639" h="32385">
                  <a:moveTo>
                    <a:pt x="40068" y="0"/>
                  </a:moveTo>
                  <a:lnTo>
                    <a:pt x="17475" y="31267"/>
                  </a:lnTo>
                  <a:lnTo>
                    <a:pt x="7785" y="31877"/>
                  </a:lnTo>
                  <a:lnTo>
                    <a:pt x="0" y="31927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16015" y="3665740"/>
              <a:ext cx="18415" cy="31750"/>
            </a:xfrm>
            <a:custGeom>
              <a:avLst/>
              <a:gdLst/>
              <a:ahLst/>
              <a:cxnLst/>
              <a:rect l="l" t="t" r="r" b="b"/>
              <a:pathLst>
                <a:path w="18414" h="31750">
                  <a:moveTo>
                    <a:pt x="0" y="31724"/>
                  </a:moveTo>
                  <a:lnTo>
                    <a:pt x="8724" y="8915"/>
                  </a:lnTo>
                  <a:lnTo>
                    <a:pt x="18034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58711" y="3530600"/>
              <a:ext cx="40005" cy="31115"/>
            </a:xfrm>
            <a:custGeom>
              <a:avLst/>
              <a:gdLst/>
              <a:ahLst/>
              <a:cxnLst/>
              <a:rect l="l" t="t" r="r" b="b"/>
              <a:pathLst>
                <a:path w="40004" h="31114">
                  <a:moveTo>
                    <a:pt x="39395" y="30810"/>
                  </a:moveTo>
                  <a:lnTo>
                    <a:pt x="13576" y="215"/>
                  </a:lnTo>
                  <a:lnTo>
                    <a:pt x="7772" y="25"/>
                  </a:lnTo>
                  <a:lnTo>
                    <a:pt x="0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16244" y="3640010"/>
              <a:ext cx="18415" cy="26034"/>
            </a:xfrm>
            <a:custGeom>
              <a:avLst/>
              <a:gdLst/>
              <a:ahLst/>
              <a:cxnLst/>
              <a:rect l="l" t="t" r="r" b="b"/>
              <a:pathLst>
                <a:path w="18414" h="26035">
                  <a:moveTo>
                    <a:pt x="0" y="0"/>
                  </a:moveTo>
                  <a:lnTo>
                    <a:pt x="9525" y="19177"/>
                  </a:lnTo>
                  <a:lnTo>
                    <a:pt x="17805" y="2573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34049" y="3665740"/>
              <a:ext cx="347345" cy="635"/>
            </a:xfrm>
            <a:custGeom>
              <a:avLst/>
              <a:gdLst/>
              <a:ahLst/>
              <a:cxnLst/>
              <a:rect l="l" t="t" r="r" b="b"/>
              <a:pathLst>
                <a:path w="347345" h="635">
                  <a:moveTo>
                    <a:pt x="346964" y="558"/>
                  </a:moveTo>
                  <a:lnTo>
                    <a:pt x="0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6731" y="3800894"/>
              <a:ext cx="635" cy="66040"/>
            </a:xfrm>
            <a:custGeom>
              <a:avLst/>
              <a:gdLst/>
              <a:ahLst/>
              <a:cxnLst/>
              <a:rect l="l" t="t" r="r" b="b"/>
              <a:pathLst>
                <a:path w="635" h="66039">
                  <a:moveTo>
                    <a:pt x="63" y="0"/>
                  </a:moveTo>
                  <a:lnTo>
                    <a:pt x="0" y="65493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99314" y="3866210"/>
              <a:ext cx="215265" cy="635"/>
            </a:xfrm>
            <a:custGeom>
              <a:avLst/>
              <a:gdLst/>
              <a:ahLst/>
              <a:cxnLst/>
              <a:rect l="l" t="t" r="r" b="b"/>
              <a:pathLst>
                <a:path w="215264" h="635">
                  <a:moveTo>
                    <a:pt x="0" y="165"/>
                  </a:moveTo>
                  <a:lnTo>
                    <a:pt x="214782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09308" y="3583393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4" h="33654">
                  <a:moveTo>
                    <a:pt x="33210" y="16611"/>
                  </a:moveTo>
                  <a:lnTo>
                    <a:pt x="33210" y="18808"/>
                  </a:lnTo>
                  <a:lnTo>
                    <a:pt x="32791" y="20916"/>
                  </a:lnTo>
                  <a:lnTo>
                    <a:pt x="22961" y="31940"/>
                  </a:lnTo>
                  <a:lnTo>
                    <a:pt x="20929" y="32791"/>
                  </a:lnTo>
                  <a:lnTo>
                    <a:pt x="18808" y="33210"/>
                  </a:lnTo>
                  <a:lnTo>
                    <a:pt x="16611" y="33210"/>
                  </a:lnTo>
                  <a:lnTo>
                    <a:pt x="14401" y="33210"/>
                  </a:lnTo>
                  <a:lnTo>
                    <a:pt x="12293" y="32791"/>
                  </a:lnTo>
                  <a:lnTo>
                    <a:pt x="10261" y="31940"/>
                  </a:lnTo>
                  <a:lnTo>
                    <a:pt x="8216" y="31102"/>
                  </a:lnTo>
                  <a:lnTo>
                    <a:pt x="1270" y="22961"/>
                  </a:lnTo>
                  <a:lnTo>
                    <a:pt x="419" y="20916"/>
                  </a:lnTo>
                  <a:lnTo>
                    <a:pt x="0" y="18808"/>
                  </a:lnTo>
                  <a:lnTo>
                    <a:pt x="0" y="16611"/>
                  </a:lnTo>
                  <a:lnTo>
                    <a:pt x="0" y="14401"/>
                  </a:lnTo>
                  <a:lnTo>
                    <a:pt x="419" y="12280"/>
                  </a:lnTo>
                  <a:lnTo>
                    <a:pt x="1270" y="10248"/>
                  </a:lnTo>
                  <a:lnTo>
                    <a:pt x="2108" y="8216"/>
                  </a:lnTo>
                  <a:lnTo>
                    <a:pt x="14401" y="0"/>
                  </a:lnTo>
                  <a:lnTo>
                    <a:pt x="16611" y="0"/>
                  </a:lnTo>
                  <a:lnTo>
                    <a:pt x="18808" y="0"/>
                  </a:lnTo>
                  <a:lnTo>
                    <a:pt x="28346" y="4864"/>
                  </a:lnTo>
                  <a:lnTo>
                    <a:pt x="29908" y="6426"/>
                  </a:lnTo>
                  <a:lnTo>
                    <a:pt x="31102" y="8216"/>
                  </a:lnTo>
                  <a:lnTo>
                    <a:pt x="31953" y="10248"/>
                  </a:lnTo>
                  <a:lnTo>
                    <a:pt x="32791" y="12280"/>
                  </a:lnTo>
                  <a:lnTo>
                    <a:pt x="33210" y="14401"/>
                  </a:lnTo>
                  <a:lnTo>
                    <a:pt x="33210" y="16611"/>
                  </a:lnTo>
                  <a:close/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10921" y="3590861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0" y="2197"/>
                  </a:moveTo>
                  <a:lnTo>
                    <a:pt x="863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09956" y="371824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842" y="16421"/>
                  </a:moveTo>
                  <a:lnTo>
                    <a:pt x="32842" y="18605"/>
                  </a:lnTo>
                  <a:lnTo>
                    <a:pt x="32423" y="20701"/>
                  </a:lnTo>
                  <a:lnTo>
                    <a:pt x="31584" y="22707"/>
                  </a:lnTo>
                  <a:lnTo>
                    <a:pt x="30759" y="24726"/>
                  </a:lnTo>
                  <a:lnTo>
                    <a:pt x="29565" y="26492"/>
                  </a:lnTo>
                  <a:lnTo>
                    <a:pt x="28028" y="28028"/>
                  </a:lnTo>
                  <a:lnTo>
                    <a:pt x="26492" y="29578"/>
                  </a:lnTo>
                  <a:lnTo>
                    <a:pt x="24714" y="30759"/>
                  </a:lnTo>
                  <a:lnTo>
                    <a:pt x="22707" y="31597"/>
                  </a:lnTo>
                  <a:lnTo>
                    <a:pt x="20688" y="32423"/>
                  </a:lnTo>
                  <a:lnTo>
                    <a:pt x="18592" y="32842"/>
                  </a:lnTo>
                  <a:lnTo>
                    <a:pt x="16421" y="32842"/>
                  </a:lnTo>
                  <a:lnTo>
                    <a:pt x="14236" y="32842"/>
                  </a:lnTo>
                  <a:lnTo>
                    <a:pt x="4813" y="28028"/>
                  </a:lnTo>
                  <a:lnTo>
                    <a:pt x="3276" y="26492"/>
                  </a:lnTo>
                  <a:lnTo>
                    <a:pt x="2082" y="24726"/>
                  </a:lnTo>
                  <a:lnTo>
                    <a:pt x="1257" y="22707"/>
                  </a:lnTo>
                  <a:lnTo>
                    <a:pt x="419" y="20701"/>
                  </a:lnTo>
                  <a:lnTo>
                    <a:pt x="0" y="18605"/>
                  </a:lnTo>
                  <a:lnTo>
                    <a:pt x="0" y="16421"/>
                  </a:lnTo>
                  <a:lnTo>
                    <a:pt x="0" y="14249"/>
                  </a:lnTo>
                  <a:lnTo>
                    <a:pt x="419" y="12153"/>
                  </a:lnTo>
                  <a:lnTo>
                    <a:pt x="1257" y="10147"/>
                  </a:lnTo>
                  <a:lnTo>
                    <a:pt x="2082" y="8128"/>
                  </a:lnTo>
                  <a:lnTo>
                    <a:pt x="14236" y="0"/>
                  </a:lnTo>
                  <a:lnTo>
                    <a:pt x="16421" y="0"/>
                  </a:lnTo>
                  <a:lnTo>
                    <a:pt x="18592" y="0"/>
                  </a:lnTo>
                  <a:lnTo>
                    <a:pt x="31584" y="10147"/>
                  </a:lnTo>
                  <a:lnTo>
                    <a:pt x="32423" y="12153"/>
                  </a:lnTo>
                  <a:lnTo>
                    <a:pt x="32842" y="14249"/>
                  </a:lnTo>
                  <a:lnTo>
                    <a:pt x="32842" y="16421"/>
                  </a:lnTo>
                  <a:close/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10858" y="3740632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0" y="0"/>
                  </a:moveTo>
                  <a:lnTo>
                    <a:pt x="698" y="2286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016014" y="3697465"/>
              <a:ext cx="635" cy="71120"/>
            </a:xfrm>
            <a:custGeom>
              <a:avLst/>
              <a:gdLst/>
              <a:ahLst/>
              <a:cxnLst/>
              <a:rect l="l" t="t" r="r" b="b"/>
              <a:pathLst>
                <a:path w="635" h="71120">
                  <a:moveTo>
                    <a:pt x="88" y="70967"/>
                  </a:moveTo>
                  <a:lnTo>
                    <a:pt x="0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43675" y="3800868"/>
              <a:ext cx="314960" cy="635"/>
            </a:xfrm>
            <a:custGeom>
              <a:avLst/>
              <a:gdLst/>
              <a:ahLst/>
              <a:cxnLst/>
              <a:rect l="l" t="t" r="r" b="b"/>
              <a:pathLst>
                <a:path w="314960" h="635">
                  <a:moveTo>
                    <a:pt x="314375" y="0"/>
                  </a:moveTo>
                  <a:lnTo>
                    <a:pt x="0" y="19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15875" y="3768522"/>
              <a:ext cx="27940" cy="33020"/>
            </a:xfrm>
            <a:custGeom>
              <a:avLst/>
              <a:gdLst/>
              <a:ahLst/>
              <a:cxnLst/>
              <a:rect l="l" t="t" r="r" b="b"/>
              <a:pathLst>
                <a:path w="27939" h="33020">
                  <a:moveTo>
                    <a:pt x="27800" y="32639"/>
                  </a:moveTo>
                  <a:lnTo>
                    <a:pt x="25755" y="32702"/>
                  </a:lnTo>
                  <a:lnTo>
                    <a:pt x="23723" y="32537"/>
                  </a:lnTo>
                  <a:lnTo>
                    <a:pt x="21729" y="32131"/>
                  </a:lnTo>
                  <a:lnTo>
                    <a:pt x="19710" y="31737"/>
                  </a:lnTo>
                  <a:lnTo>
                    <a:pt x="10668" y="27152"/>
                  </a:lnTo>
                  <a:lnTo>
                    <a:pt x="9042" y="25920"/>
                  </a:lnTo>
                  <a:lnTo>
                    <a:pt x="800" y="12115"/>
                  </a:lnTo>
                  <a:lnTo>
                    <a:pt x="317" y="10134"/>
                  </a:lnTo>
                  <a:lnTo>
                    <a:pt x="50" y="8115"/>
                  </a:lnTo>
                  <a:lnTo>
                    <a:pt x="25" y="6057"/>
                  </a:lnTo>
                  <a:lnTo>
                    <a:pt x="0" y="4013"/>
                  </a:lnTo>
                  <a:lnTo>
                    <a:pt x="203" y="1993"/>
                  </a:lnTo>
                  <a:lnTo>
                    <a:pt x="635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16205" y="3563213"/>
              <a:ext cx="635" cy="76835"/>
            </a:xfrm>
            <a:custGeom>
              <a:avLst/>
              <a:gdLst/>
              <a:ahLst/>
              <a:cxnLst/>
              <a:rect l="l" t="t" r="r" b="b"/>
              <a:pathLst>
                <a:path w="635" h="76835">
                  <a:moveTo>
                    <a:pt x="0" y="0"/>
                  </a:moveTo>
                  <a:lnTo>
                    <a:pt x="38" y="76796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45453" y="3530600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313258" y="0"/>
                  </a:moveTo>
                  <a:lnTo>
                    <a:pt x="0" y="0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15901" y="3530523"/>
              <a:ext cx="29845" cy="33020"/>
            </a:xfrm>
            <a:custGeom>
              <a:avLst/>
              <a:gdLst/>
              <a:ahLst/>
              <a:cxnLst/>
              <a:rect l="l" t="t" r="r" b="b"/>
              <a:pathLst>
                <a:path w="29845" h="33020">
                  <a:moveTo>
                    <a:pt x="29527" y="317"/>
                  </a:moveTo>
                  <a:lnTo>
                    <a:pt x="27419" y="25"/>
                  </a:lnTo>
                  <a:lnTo>
                    <a:pt x="25298" y="0"/>
                  </a:lnTo>
                  <a:lnTo>
                    <a:pt x="23177" y="241"/>
                  </a:lnTo>
                  <a:lnTo>
                    <a:pt x="21056" y="469"/>
                  </a:lnTo>
                  <a:lnTo>
                    <a:pt x="11366" y="4610"/>
                  </a:lnTo>
                  <a:lnTo>
                    <a:pt x="9601" y="5816"/>
                  </a:lnTo>
                  <a:lnTo>
                    <a:pt x="8013" y="7200"/>
                  </a:lnTo>
                  <a:lnTo>
                    <a:pt x="6591" y="8801"/>
                  </a:lnTo>
                  <a:lnTo>
                    <a:pt x="5168" y="10388"/>
                  </a:lnTo>
                  <a:lnTo>
                    <a:pt x="749" y="19964"/>
                  </a:lnTo>
                  <a:lnTo>
                    <a:pt x="241" y="22034"/>
                  </a:lnTo>
                  <a:lnTo>
                    <a:pt x="0" y="24130"/>
                  </a:lnTo>
                  <a:lnTo>
                    <a:pt x="12" y="26263"/>
                  </a:lnTo>
                  <a:lnTo>
                    <a:pt x="25" y="28397"/>
                  </a:lnTo>
                  <a:lnTo>
                    <a:pt x="304" y="30492"/>
                  </a:lnTo>
                  <a:lnTo>
                    <a:pt x="838" y="32562"/>
                  </a:lnTo>
                </a:path>
              </a:pathLst>
            </a:custGeom>
            <a:ln w="16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544523" y="3752011"/>
              <a:ext cx="40640" cy="33020"/>
            </a:xfrm>
            <a:custGeom>
              <a:avLst/>
              <a:gdLst/>
              <a:ahLst/>
              <a:cxnLst/>
              <a:rect l="l" t="t" r="r" b="b"/>
              <a:pathLst>
                <a:path w="40640" h="33020">
                  <a:moveTo>
                    <a:pt x="40132" y="32613"/>
                  </a:moveTo>
                  <a:lnTo>
                    <a:pt x="16078" y="711"/>
                  </a:lnTo>
                  <a:lnTo>
                    <a:pt x="10858" y="50"/>
                  </a:lnTo>
                  <a:lnTo>
                    <a:pt x="0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312012" y="3751999"/>
              <a:ext cx="32384" cy="43180"/>
            </a:xfrm>
            <a:custGeom>
              <a:avLst/>
              <a:gdLst/>
              <a:ahLst/>
              <a:cxnLst/>
              <a:rect l="l" t="t" r="r" b="b"/>
              <a:pathLst>
                <a:path w="32384" h="43179">
                  <a:moveTo>
                    <a:pt x="32016" y="0"/>
                  </a:moveTo>
                  <a:lnTo>
                    <a:pt x="660" y="24231"/>
                  </a:lnTo>
                  <a:lnTo>
                    <a:pt x="38" y="33629"/>
                  </a:lnTo>
                  <a:lnTo>
                    <a:pt x="0" y="4257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12012" y="4084739"/>
              <a:ext cx="40640" cy="33020"/>
            </a:xfrm>
            <a:custGeom>
              <a:avLst/>
              <a:gdLst/>
              <a:ahLst/>
              <a:cxnLst/>
              <a:rect l="l" t="t" r="r" b="b"/>
              <a:pathLst>
                <a:path w="40640" h="33020">
                  <a:moveTo>
                    <a:pt x="0" y="0"/>
                  </a:moveTo>
                  <a:lnTo>
                    <a:pt x="23609" y="31826"/>
                  </a:lnTo>
                  <a:lnTo>
                    <a:pt x="28575" y="32410"/>
                  </a:lnTo>
                  <a:lnTo>
                    <a:pt x="40284" y="32461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497292" y="3960888"/>
              <a:ext cx="173355" cy="173355"/>
            </a:xfrm>
            <a:custGeom>
              <a:avLst/>
              <a:gdLst/>
              <a:ahLst/>
              <a:cxnLst/>
              <a:rect l="l" t="t" r="r" b="b"/>
              <a:pathLst>
                <a:path w="173354" h="173354">
                  <a:moveTo>
                    <a:pt x="173355" y="86677"/>
                  </a:moveTo>
                  <a:lnTo>
                    <a:pt x="173355" y="92367"/>
                  </a:lnTo>
                  <a:lnTo>
                    <a:pt x="172796" y="97993"/>
                  </a:lnTo>
                  <a:lnTo>
                    <a:pt x="171691" y="103581"/>
                  </a:lnTo>
                  <a:lnTo>
                    <a:pt x="170573" y="109169"/>
                  </a:lnTo>
                  <a:lnTo>
                    <a:pt x="168935" y="114579"/>
                  </a:lnTo>
                  <a:lnTo>
                    <a:pt x="166751" y="119837"/>
                  </a:lnTo>
                  <a:lnTo>
                    <a:pt x="164579" y="125095"/>
                  </a:lnTo>
                  <a:lnTo>
                    <a:pt x="161912" y="130098"/>
                  </a:lnTo>
                  <a:lnTo>
                    <a:pt x="158750" y="134823"/>
                  </a:lnTo>
                  <a:lnTo>
                    <a:pt x="155587" y="139560"/>
                  </a:lnTo>
                  <a:lnTo>
                    <a:pt x="125107" y="164579"/>
                  </a:lnTo>
                  <a:lnTo>
                    <a:pt x="119849" y="166751"/>
                  </a:lnTo>
                  <a:lnTo>
                    <a:pt x="114592" y="168922"/>
                  </a:lnTo>
                  <a:lnTo>
                    <a:pt x="109169" y="170573"/>
                  </a:lnTo>
                  <a:lnTo>
                    <a:pt x="103581" y="171678"/>
                  </a:lnTo>
                  <a:lnTo>
                    <a:pt x="98005" y="172796"/>
                  </a:lnTo>
                  <a:lnTo>
                    <a:pt x="92367" y="173355"/>
                  </a:lnTo>
                  <a:lnTo>
                    <a:pt x="86677" y="173355"/>
                  </a:lnTo>
                  <a:lnTo>
                    <a:pt x="80987" y="173355"/>
                  </a:lnTo>
                  <a:lnTo>
                    <a:pt x="75349" y="172796"/>
                  </a:lnTo>
                  <a:lnTo>
                    <a:pt x="69761" y="171678"/>
                  </a:lnTo>
                  <a:lnTo>
                    <a:pt x="64185" y="170573"/>
                  </a:lnTo>
                  <a:lnTo>
                    <a:pt x="58762" y="168922"/>
                  </a:lnTo>
                  <a:lnTo>
                    <a:pt x="53505" y="166751"/>
                  </a:lnTo>
                  <a:lnTo>
                    <a:pt x="48247" y="164579"/>
                  </a:lnTo>
                  <a:lnTo>
                    <a:pt x="25387" y="147967"/>
                  </a:lnTo>
                  <a:lnTo>
                    <a:pt x="21361" y="143941"/>
                  </a:lnTo>
                  <a:lnTo>
                    <a:pt x="17767" y="139560"/>
                  </a:lnTo>
                  <a:lnTo>
                    <a:pt x="14605" y="134823"/>
                  </a:lnTo>
                  <a:lnTo>
                    <a:pt x="11442" y="130098"/>
                  </a:lnTo>
                  <a:lnTo>
                    <a:pt x="1663" y="103581"/>
                  </a:lnTo>
                  <a:lnTo>
                    <a:pt x="558" y="97993"/>
                  </a:lnTo>
                  <a:lnTo>
                    <a:pt x="0" y="92367"/>
                  </a:lnTo>
                  <a:lnTo>
                    <a:pt x="0" y="86677"/>
                  </a:lnTo>
                  <a:lnTo>
                    <a:pt x="0" y="80975"/>
                  </a:lnTo>
                  <a:lnTo>
                    <a:pt x="558" y="75349"/>
                  </a:lnTo>
                  <a:lnTo>
                    <a:pt x="1663" y="69761"/>
                  </a:lnTo>
                  <a:lnTo>
                    <a:pt x="2768" y="64173"/>
                  </a:lnTo>
                  <a:lnTo>
                    <a:pt x="14605" y="38519"/>
                  </a:lnTo>
                  <a:lnTo>
                    <a:pt x="17767" y="33782"/>
                  </a:lnTo>
                  <a:lnTo>
                    <a:pt x="48247" y="8775"/>
                  </a:lnTo>
                  <a:lnTo>
                    <a:pt x="69761" y="1663"/>
                  </a:lnTo>
                  <a:lnTo>
                    <a:pt x="75349" y="546"/>
                  </a:lnTo>
                  <a:lnTo>
                    <a:pt x="80987" y="0"/>
                  </a:lnTo>
                  <a:lnTo>
                    <a:pt x="86677" y="0"/>
                  </a:lnTo>
                  <a:lnTo>
                    <a:pt x="92367" y="0"/>
                  </a:lnTo>
                  <a:lnTo>
                    <a:pt x="98005" y="546"/>
                  </a:lnTo>
                  <a:lnTo>
                    <a:pt x="103581" y="1663"/>
                  </a:lnTo>
                  <a:lnTo>
                    <a:pt x="109169" y="2768"/>
                  </a:lnTo>
                  <a:lnTo>
                    <a:pt x="143941" y="21361"/>
                  </a:lnTo>
                  <a:lnTo>
                    <a:pt x="158750" y="38519"/>
                  </a:lnTo>
                  <a:lnTo>
                    <a:pt x="161912" y="43243"/>
                  </a:lnTo>
                  <a:lnTo>
                    <a:pt x="164579" y="48247"/>
                  </a:lnTo>
                  <a:lnTo>
                    <a:pt x="166751" y="53505"/>
                  </a:lnTo>
                  <a:lnTo>
                    <a:pt x="168935" y="58762"/>
                  </a:lnTo>
                  <a:lnTo>
                    <a:pt x="170573" y="64173"/>
                  </a:lnTo>
                  <a:lnTo>
                    <a:pt x="171691" y="69761"/>
                  </a:lnTo>
                  <a:lnTo>
                    <a:pt x="172796" y="75349"/>
                  </a:lnTo>
                  <a:lnTo>
                    <a:pt x="173355" y="80975"/>
                  </a:lnTo>
                  <a:lnTo>
                    <a:pt x="173355" y="86677"/>
                  </a:lnTo>
                  <a:close/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584655" y="3784625"/>
              <a:ext cx="1270" cy="176530"/>
            </a:xfrm>
            <a:custGeom>
              <a:avLst/>
              <a:gdLst/>
              <a:ahLst/>
              <a:cxnLst/>
              <a:rect l="l" t="t" r="r" b="b"/>
              <a:pathLst>
                <a:path w="1270" h="176529">
                  <a:moveTo>
                    <a:pt x="914" y="176517"/>
                  </a:moveTo>
                  <a:lnTo>
                    <a:pt x="0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530909" y="4117200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39">
                  <a:moveTo>
                    <a:pt x="4254" y="1930"/>
                  </a:moveTo>
                  <a:lnTo>
                    <a:pt x="0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72527" y="3846855"/>
              <a:ext cx="149860" cy="635"/>
            </a:xfrm>
            <a:custGeom>
              <a:avLst/>
              <a:gdLst/>
              <a:ahLst/>
              <a:cxnLst/>
              <a:rect l="l" t="t" r="r" b="b"/>
              <a:pathLst>
                <a:path w="149859" h="635">
                  <a:moveTo>
                    <a:pt x="0" y="38"/>
                  </a:moveTo>
                  <a:lnTo>
                    <a:pt x="149821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73480" y="3909504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50"/>
                  </a:moveTo>
                  <a:lnTo>
                    <a:pt x="148869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72527" y="3971404"/>
              <a:ext cx="102870" cy="635"/>
            </a:xfrm>
            <a:custGeom>
              <a:avLst/>
              <a:gdLst/>
              <a:ahLst/>
              <a:cxnLst/>
              <a:rect l="l" t="t" r="r" b="b"/>
              <a:pathLst>
                <a:path w="102870" h="635">
                  <a:moveTo>
                    <a:pt x="0" y="0"/>
                  </a:moveTo>
                  <a:lnTo>
                    <a:pt x="102857" y="25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568602" y="4021937"/>
              <a:ext cx="53340" cy="53975"/>
            </a:xfrm>
            <a:custGeom>
              <a:avLst/>
              <a:gdLst/>
              <a:ahLst/>
              <a:cxnLst/>
              <a:rect l="l" t="t" r="r" b="b"/>
              <a:pathLst>
                <a:path w="53340" h="53975">
                  <a:moveTo>
                    <a:pt x="0" y="53733"/>
                  </a:moveTo>
                  <a:lnTo>
                    <a:pt x="53162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544485" y="4051122"/>
              <a:ext cx="24130" cy="24765"/>
            </a:xfrm>
            <a:custGeom>
              <a:avLst/>
              <a:gdLst/>
              <a:ahLst/>
              <a:cxnLst/>
              <a:rect l="l" t="t" r="r" b="b"/>
              <a:pathLst>
                <a:path w="24129" h="24764">
                  <a:moveTo>
                    <a:pt x="0" y="0"/>
                  </a:moveTo>
                  <a:lnTo>
                    <a:pt x="24117" y="24549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344028" y="3751999"/>
              <a:ext cx="200660" cy="635"/>
            </a:xfrm>
            <a:custGeom>
              <a:avLst/>
              <a:gdLst/>
              <a:ahLst/>
              <a:cxnLst/>
              <a:rect l="l" t="t" r="r" b="b"/>
              <a:pathLst>
                <a:path w="200659" h="635">
                  <a:moveTo>
                    <a:pt x="200494" y="12"/>
                  </a:moveTo>
                  <a:lnTo>
                    <a:pt x="0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312012" y="3794569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90169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352296" y="4117200"/>
              <a:ext cx="179070" cy="0"/>
            </a:xfrm>
            <a:custGeom>
              <a:avLst/>
              <a:gdLst/>
              <a:ahLst/>
              <a:cxnLst/>
              <a:rect l="l" t="t" r="r" b="b"/>
              <a:pathLst>
                <a:path w="179070">
                  <a:moveTo>
                    <a:pt x="0" y="0"/>
                  </a:moveTo>
                  <a:lnTo>
                    <a:pt x="178612" y="0"/>
                  </a:lnTo>
                </a:path>
              </a:pathLst>
            </a:custGeom>
            <a:ln w="1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6953415" y="2588767"/>
            <a:ext cx="1381760" cy="44640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33070" marR="5080" indent="-421005">
              <a:lnSpc>
                <a:spcPct val="104000"/>
              </a:lnSpc>
              <a:spcBef>
                <a:spcPts val="40"/>
              </a:spcBef>
            </a:pPr>
            <a:r>
              <a:rPr sz="1350" spc="-75" dirty="0">
                <a:solidFill>
                  <a:srgbClr val="374552"/>
                </a:solidFill>
                <a:latin typeface="Verdana"/>
                <a:cs typeface="Verdana"/>
              </a:rPr>
              <a:t>Bidirectional</a:t>
            </a:r>
            <a:r>
              <a:rPr sz="13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Verdana"/>
                <a:cs typeface="Verdana"/>
              </a:rPr>
              <a:t>CCR </a:t>
            </a:r>
            <a:r>
              <a:rPr sz="1350" spc="-10" dirty="0">
                <a:solidFill>
                  <a:srgbClr val="374552"/>
                </a:solidFill>
                <a:latin typeface="Verdana"/>
                <a:cs typeface="Verdana"/>
              </a:rPr>
              <a:t>resync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05675" y="5668333"/>
            <a:ext cx="101136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current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374552"/>
                </a:solidFill>
                <a:latin typeface="Trebuchet MS"/>
                <a:cs typeface="Trebuchet MS"/>
              </a:rPr>
              <a:t>state,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application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Trebuchet MS"/>
                <a:cs typeface="Trebuchet MS"/>
              </a:rPr>
              <a:t>layer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writes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374552"/>
                </a:solidFill>
                <a:latin typeface="Trebuchet MS"/>
                <a:cs typeface="Trebuchet MS"/>
              </a:rPr>
              <a:t>either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the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Production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or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374552"/>
                </a:solidFill>
                <a:latin typeface="Trebuchet MS"/>
                <a:cs typeface="Trebuchet MS"/>
              </a:rPr>
              <a:t>BCP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Elasticsearch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Trebuchet MS"/>
                <a:cs typeface="Trebuchet MS"/>
              </a:rPr>
              <a:t>cluster.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Unidirectional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CCR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ensures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synchronization,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Trebuchet MS"/>
                <a:cs typeface="Trebuchet MS"/>
              </a:rPr>
              <a:t>with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automatic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failover </a:t>
            </a:r>
            <a:r>
              <a:rPr sz="900" spc="-3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 the</a:t>
            </a:r>
            <a:r>
              <a:rPr sz="9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operational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cluster</a:t>
            </a:r>
            <a:r>
              <a:rPr sz="9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374552"/>
                </a:solidFill>
                <a:latin typeface="Trebuchet MS"/>
                <a:cs typeface="Trebuchet MS"/>
              </a:rPr>
              <a:t>if</a:t>
            </a:r>
            <a:r>
              <a:rPr sz="9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one</a:t>
            </a:r>
            <a:r>
              <a:rPr sz="9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becomes</a:t>
            </a:r>
            <a:r>
              <a:rPr sz="9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unavailable.</a:t>
            </a:r>
            <a:r>
              <a:rPr sz="9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Bidirectional</a:t>
            </a:r>
            <a:r>
              <a:rPr sz="9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CCR</a:t>
            </a:r>
            <a:r>
              <a:rPr sz="9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then</a:t>
            </a:r>
            <a:r>
              <a:rPr sz="9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resynchronizes</a:t>
            </a:r>
            <a:r>
              <a:rPr sz="9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9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once</a:t>
            </a:r>
            <a:r>
              <a:rPr sz="9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9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impacted</a:t>
            </a:r>
            <a:r>
              <a:rPr sz="9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374552"/>
                </a:solidFill>
                <a:latin typeface="Trebuchet MS"/>
                <a:cs typeface="Trebuchet MS"/>
              </a:rPr>
              <a:t>DC</a:t>
            </a:r>
            <a:r>
              <a:rPr sz="9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Trebuchet MS"/>
                <a:cs typeface="Trebuchet MS"/>
              </a:rPr>
              <a:t>recovers.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7466" y="756306"/>
            <a:ext cx="9391015" cy="675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300" spc="-80" dirty="0"/>
              <a:t>General</a:t>
            </a:r>
            <a:r>
              <a:rPr sz="1300" spc="-10" dirty="0"/>
              <a:t> </a:t>
            </a:r>
            <a:r>
              <a:rPr sz="1300" spc="-85" dirty="0"/>
              <a:t>Design</a:t>
            </a:r>
            <a:r>
              <a:rPr sz="1300" spc="-10" dirty="0"/>
              <a:t> Considerations</a:t>
            </a:r>
            <a:endParaRPr sz="1300"/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600" spc="-130" dirty="0"/>
              <a:t>Architectural</a:t>
            </a:r>
            <a:r>
              <a:rPr sz="2600" spc="-80" dirty="0"/>
              <a:t> </a:t>
            </a:r>
            <a:r>
              <a:rPr sz="2600" spc="-120" dirty="0"/>
              <a:t>Principles</a:t>
            </a:r>
            <a:r>
              <a:rPr sz="2600" spc="-75" dirty="0"/>
              <a:t> </a:t>
            </a:r>
            <a:r>
              <a:rPr sz="2600" spc="-114" dirty="0"/>
              <a:t>for</a:t>
            </a:r>
            <a:r>
              <a:rPr sz="2600" spc="-75" dirty="0"/>
              <a:t> </a:t>
            </a:r>
            <a:r>
              <a:rPr sz="2600" spc="-130" dirty="0"/>
              <a:t>a</a:t>
            </a:r>
            <a:r>
              <a:rPr sz="2600" spc="-75" dirty="0"/>
              <a:t> </a:t>
            </a:r>
            <a:r>
              <a:rPr sz="2600" spc="-155" dirty="0"/>
              <a:t>Robust</a:t>
            </a:r>
            <a:r>
              <a:rPr sz="2600" spc="-75" dirty="0"/>
              <a:t> </a:t>
            </a:r>
            <a:r>
              <a:rPr sz="2600" spc="-130" dirty="0"/>
              <a:t>Elasticsearch</a:t>
            </a:r>
            <a:r>
              <a:rPr sz="2600" spc="-75" dirty="0"/>
              <a:t> </a:t>
            </a:r>
            <a:r>
              <a:rPr sz="2600" spc="-114" dirty="0"/>
              <a:t>Deployment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607466" y="1585269"/>
            <a:ext cx="10137775" cy="387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ensure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new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Elasticsearch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deployment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is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both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performant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30" dirty="0">
                <a:solidFill>
                  <a:srgbClr val="374552"/>
                </a:solidFill>
                <a:latin typeface="Trebuchet MS"/>
                <a:cs typeface="Trebuchet MS"/>
              </a:rPr>
              <a:t>resilient,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several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key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design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considerations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must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be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rigorously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applied.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These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principles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address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network 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latency,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cluster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design,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disaster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recovery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preparedness.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2114549"/>
            <a:ext cx="457200" cy="457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3970" y="2099094"/>
            <a:ext cx="1798955" cy="17595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53720">
              <a:lnSpc>
                <a:spcPct val="101000"/>
              </a:lnSpc>
              <a:spcBef>
                <a:spcPts val="80"/>
              </a:spcBef>
            </a:pPr>
            <a:r>
              <a:rPr sz="1300" spc="-65" dirty="0">
                <a:solidFill>
                  <a:srgbClr val="374552"/>
                </a:solidFill>
                <a:latin typeface="Verdana"/>
                <a:cs typeface="Verdana"/>
              </a:rPr>
              <a:t>Regional</a:t>
            </a:r>
            <a:r>
              <a:rPr sz="13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374552"/>
                </a:solidFill>
                <a:latin typeface="Verdana"/>
                <a:cs typeface="Verdana"/>
              </a:rPr>
              <a:t>Cluster </a:t>
            </a:r>
            <a:r>
              <a:rPr sz="1300" spc="-10" dirty="0">
                <a:solidFill>
                  <a:srgbClr val="374552"/>
                </a:solidFill>
                <a:latin typeface="Verdana"/>
                <a:cs typeface="Verdana"/>
              </a:rPr>
              <a:t>Separation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19800"/>
              </a:lnSpc>
              <a:spcBef>
                <a:spcPts val="450"/>
              </a:spcBef>
            </a:pP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Stretching</a:t>
            </a:r>
            <a:r>
              <a:rPr sz="10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cluster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374552"/>
                </a:solidFill>
                <a:latin typeface="Trebuchet MS"/>
                <a:cs typeface="Trebuchet MS"/>
              </a:rPr>
              <a:t>across </a:t>
            </a:r>
            <a:r>
              <a:rPr sz="1000" spc="75" dirty="0">
                <a:solidFill>
                  <a:srgbClr val="374552"/>
                </a:solidFill>
                <a:latin typeface="Trebuchet MS"/>
                <a:cs typeface="Trebuchet MS"/>
              </a:rPr>
              <a:t>34ms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network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latency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is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not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supported.</a:t>
            </a:r>
            <a:r>
              <a:rPr sz="10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Therefore,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two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distinct</a:t>
            </a:r>
            <a:r>
              <a:rPr sz="1000" spc="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clusters</a:t>
            </a:r>
            <a:r>
              <a:rPr sz="1000" spc="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(one</a:t>
            </a:r>
            <a:r>
              <a:rPr sz="1000" spc="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per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region)</a:t>
            </a:r>
            <a:r>
              <a:rPr sz="10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are</a:t>
            </a:r>
            <a:r>
              <a:rPr sz="10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necessary</a:t>
            </a:r>
            <a:r>
              <a:rPr sz="10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to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maintain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optimal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performance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0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stability.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2114549"/>
            <a:ext cx="457200" cy="4572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86441" y="2099094"/>
            <a:ext cx="1835785" cy="17595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1015">
              <a:lnSpc>
                <a:spcPct val="101000"/>
              </a:lnSpc>
              <a:spcBef>
                <a:spcPts val="80"/>
              </a:spcBef>
            </a:pPr>
            <a:r>
              <a:rPr sz="1300" spc="-75" dirty="0">
                <a:solidFill>
                  <a:srgbClr val="374552"/>
                </a:solidFill>
                <a:latin typeface="Verdana"/>
                <a:cs typeface="Verdana"/>
              </a:rPr>
              <a:t>Minimized</a:t>
            </a:r>
            <a:r>
              <a:rPr sz="13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374552"/>
                </a:solidFill>
                <a:latin typeface="Verdana"/>
                <a:cs typeface="Verdana"/>
              </a:rPr>
              <a:t>Design </a:t>
            </a:r>
            <a:r>
              <a:rPr sz="1300" spc="-10" dirty="0">
                <a:solidFill>
                  <a:srgbClr val="374552"/>
                </a:solidFill>
                <a:latin typeface="Verdana"/>
                <a:cs typeface="Verdana"/>
              </a:rPr>
              <a:t>Changes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19800"/>
              </a:lnSpc>
              <a:spcBef>
                <a:spcPts val="450"/>
              </a:spcBef>
            </a:pP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While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striving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minimize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changes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current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cluster 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design,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necessary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adjustments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related</a:t>
            </a:r>
            <a:r>
              <a:rPr sz="10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to node roles and</a:t>
            </a:r>
            <a:r>
              <a:rPr sz="10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Index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Lifecycle</a:t>
            </a:r>
            <a:r>
              <a:rPr sz="1000" spc="1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Management</a:t>
            </a:r>
            <a:r>
              <a:rPr sz="1000" spc="1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(ILM) 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0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be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implemented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to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optimize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000" spc="-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new</a:t>
            </a:r>
            <a:r>
              <a:rPr sz="1000" spc="-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architecture.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1675" y="2114549"/>
            <a:ext cx="457200" cy="457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68757" y="2099094"/>
            <a:ext cx="1782445" cy="15786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440690">
              <a:lnSpc>
                <a:spcPct val="101000"/>
              </a:lnSpc>
              <a:spcBef>
                <a:spcPts val="80"/>
              </a:spcBef>
            </a:pPr>
            <a:r>
              <a:rPr sz="1300" spc="-70" dirty="0">
                <a:solidFill>
                  <a:srgbClr val="374552"/>
                </a:solidFill>
                <a:latin typeface="Verdana"/>
                <a:cs typeface="Verdana"/>
              </a:rPr>
              <a:t>Additional</a:t>
            </a:r>
            <a:r>
              <a:rPr sz="13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74552"/>
                </a:solidFill>
                <a:latin typeface="Verdana"/>
                <a:cs typeface="Verdana"/>
              </a:rPr>
              <a:t>Master </a:t>
            </a:r>
            <a:r>
              <a:rPr sz="1300" spc="-10" dirty="0">
                <a:solidFill>
                  <a:srgbClr val="374552"/>
                </a:solidFill>
                <a:latin typeface="Verdana"/>
                <a:cs typeface="Verdana"/>
              </a:rPr>
              <a:t>Nodes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20000"/>
              </a:lnSpc>
              <a:spcBef>
                <a:spcPts val="450"/>
              </a:spcBef>
            </a:pP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Extra</a:t>
            </a:r>
            <a:r>
              <a:rPr sz="1000" spc="6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master</a:t>
            </a:r>
            <a:r>
              <a:rPr sz="1000" spc="6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nodes</a:t>
            </a:r>
            <a:r>
              <a:rPr sz="1000" spc="6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000" spc="6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50" dirty="0">
                <a:solidFill>
                  <a:srgbClr val="374552"/>
                </a:solidFill>
                <a:latin typeface="Trebuchet MS"/>
                <a:cs typeface="Trebuchet MS"/>
              </a:rPr>
              <a:t>a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master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"ready"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node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be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added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bolster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the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cluster's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resilience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support</a:t>
            </a:r>
            <a:r>
              <a:rPr sz="1000" spc="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various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Disaster</a:t>
            </a:r>
            <a:r>
              <a:rPr sz="1000" spc="1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Recovery</a:t>
            </a:r>
            <a:r>
              <a:rPr sz="1000" spc="1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(DR) 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scenarios</a:t>
            </a:r>
            <a:r>
              <a:rPr sz="1000" spc="1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effectively.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62950" y="2114549"/>
            <a:ext cx="457200" cy="4572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951214" y="2099094"/>
            <a:ext cx="1866900" cy="15786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621665">
              <a:lnSpc>
                <a:spcPct val="101000"/>
              </a:lnSpc>
              <a:spcBef>
                <a:spcPts val="80"/>
              </a:spcBef>
            </a:pPr>
            <a:r>
              <a:rPr sz="1300" spc="-90" dirty="0">
                <a:solidFill>
                  <a:srgbClr val="374552"/>
                </a:solidFill>
                <a:latin typeface="Verdana"/>
                <a:cs typeface="Verdana"/>
              </a:rPr>
              <a:t>Shard</a:t>
            </a:r>
            <a:r>
              <a:rPr sz="13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374552"/>
                </a:solidFill>
                <a:latin typeface="Verdana"/>
                <a:cs typeface="Verdana"/>
              </a:rPr>
              <a:t>Allocation </a:t>
            </a:r>
            <a:r>
              <a:rPr sz="1300" spc="-10" dirty="0">
                <a:solidFill>
                  <a:srgbClr val="374552"/>
                </a:solidFill>
                <a:latin typeface="Verdana"/>
                <a:cs typeface="Verdana"/>
              </a:rPr>
              <a:t>Awareness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20000"/>
              </a:lnSpc>
              <a:spcBef>
                <a:spcPts val="450"/>
              </a:spcBef>
            </a:pP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Shard</a:t>
            </a:r>
            <a:r>
              <a:rPr sz="1000" spc="6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allocation</a:t>
            </a:r>
            <a:r>
              <a:rPr sz="1000" spc="6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awareness</a:t>
            </a:r>
            <a:r>
              <a:rPr sz="1000" spc="6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will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be</a:t>
            </a:r>
            <a:r>
              <a:rPr sz="1000" spc="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meticulously</a:t>
            </a:r>
            <a:r>
              <a:rPr sz="10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configured</a:t>
            </a:r>
            <a:r>
              <a:rPr sz="1000" spc="4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to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ensure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that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primary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replica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shards</a:t>
            </a:r>
            <a:r>
              <a:rPr sz="1000" spc="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reside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in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different</a:t>
            </a:r>
            <a:r>
              <a:rPr sz="1000" spc="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data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centers,</a:t>
            </a:r>
            <a:r>
              <a:rPr sz="1000" spc="8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maximizing</a:t>
            </a:r>
            <a:r>
              <a:rPr sz="1000" spc="8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fault tolerance.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125" y="4095750"/>
            <a:ext cx="457200" cy="4572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03970" y="4068361"/>
            <a:ext cx="1838960" cy="140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4485">
              <a:lnSpc>
                <a:spcPct val="105800"/>
              </a:lnSpc>
              <a:spcBef>
                <a:spcPts val="100"/>
              </a:spcBef>
            </a:pPr>
            <a:r>
              <a:rPr sz="1300" spc="-95" dirty="0">
                <a:solidFill>
                  <a:srgbClr val="374552"/>
                </a:solidFill>
                <a:latin typeface="Verdana"/>
                <a:cs typeface="Verdana"/>
              </a:rPr>
              <a:t>In-</a:t>
            </a:r>
            <a:r>
              <a:rPr sz="1300" spc="-80" dirty="0">
                <a:solidFill>
                  <a:srgbClr val="374552"/>
                </a:solidFill>
                <a:latin typeface="Verdana"/>
                <a:cs typeface="Verdana"/>
              </a:rPr>
              <a:t>Region</a:t>
            </a:r>
            <a:r>
              <a:rPr sz="13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374552"/>
                </a:solidFill>
                <a:latin typeface="Verdana"/>
                <a:cs typeface="Verdana"/>
              </a:rPr>
              <a:t>Snapshot </a:t>
            </a:r>
            <a:r>
              <a:rPr sz="1300" spc="-10" dirty="0">
                <a:solidFill>
                  <a:srgbClr val="374552"/>
                </a:solidFill>
                <a:latin typeface="Verdana"/>
                <a:cs typeface="Verdana"/>
              </a:rPr>
              <a:t>Repository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20300"/>
              </a:lnSpc>
              <a:spcBef>
                <a:spcPts val="370"/>
              </a:spcBef>
            </a:pP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Ideally,</a:t>
            </a:r>
            <a:r>
              <a:rPr sz="1000" spc="7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000" spc="7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snapshot</a:t>
            </a:r>
            <a:r>
              <a:rPr sz="1000" spc="8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repository 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will</a:t>
            </a:r>
            <a:r>
              <a:rPr sz="10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feature</a:t>
            </a:r>
            <a:r>
              <a:rPr sz="1000" spc="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storage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replication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within</a:t>
            </a:r>
            <a:r>
              <a:rPr sz="1000" spc="-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its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region,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providing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inherent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40" dirty="0">
                <a:solidFill>
                  <a:srgbClr val="374552"/>
                </a:solidFill>
                <a:latin typeface="Trebuchet MS"/>
                <a:cs typeface="Trebuchet MS"/>
              </a:rPr>
              <a:t>in-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region</a:t>
            </a:r>
            <a:r>
              <a:rPr sz="1000" spc="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redundancy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critical</a:t>
            </a:r>
            <a:r>
              <a:rPr sz="1000" spc="-3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backups.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00400" y="4095750"/>
            <a:ext cx="457200" cy="457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786441" y="3976541"/>
            <a:ext cx="1814830" cy="166370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300" spc="-45" dirty="0">
                <a:solidFill>
                  <a:srgbClr val="374552"/>
                </a:solidFill>
                <a:latin typeface="Verdana"/>
                <a:cs typeface="Verdana"/>
              </a:rPr>
              <a:t>Capacity</a:t>
            </a:r>
            <a:r>
              <a:rPr sz="1300" spc="-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74552"/>
                </a:solidFill>
                <a:latin typeface="Verdana"/>
                <a:cs typeface="Verdana"/>
              </a:rPr>
              <a:t>Planning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19800"/>
              </a:lnSpc>
              <a:spcBef>
                <a:spcPts val="455"/>
              </a:spcBef>
            </a:pP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Business</a:t>
            </a:r>
            <a:r>
              <a:rPr sz="1000" spc="4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374552"/>
                </a:solidFill>
                <a:latin typeface="Trebuchet MS"/>
                <a:cs typeface="Trebuchet MS"/>
              </a:rPr>
              <a:t>as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usual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nodes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must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run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at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no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more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than</a:t>
            </a:r>
            <a:r>
              <a:rPr sz="10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40%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capacity.</a:t>
            </a:r>
            <a:r>
              <a:rPr sz="1000" spc="2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This</a:t>
            </a:r>
            <a:r>
              <a:rPr sz="1000" spc="5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reserve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capacity 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is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crucial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to</a:t>
            </a:r>
            <a:r>
              <a:rPr sz="1000" spc="10" dirty="0">
                <a:solidFill>
                  <a:srgbClr val="374552"/>
                </a:solidFill>
                <a:latin typeface="Trebuchet MS"/>
                <a:cs typeface="Trebuchet MS"/>
              </a:rPr>
              <a:t> accommodate</a:t>
            </a:r>
            <a:r>
              <a:rPr sz="10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2x </a:t>
            </a:r>
            <a:r>
              <a:rPr sz="10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10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volume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374552"/>
                </a:solidFill>
                <a:latin typeface="Trebuchet MS"/>
                <a:cs typeface="Trebuchet MS"/>
              </a:rPr>
              <a:t>full</a:t>
            </a:r>
            <a:r>
              <a:rPr sz="1000" spc="-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failover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support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374552"/>
                </a:solidFill>
                <a:latin typeface="Trebuchet MS"/>
                <a:cs typeface="Trebuchet MS"/>
              </a:rPr>
              <a:t>during</a:t>
            </a:r>
            <a:r>
              <a:rPr sz="1000" spc="5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Trebuchet MS"/>
                <a:cs typeface="Trebuchet MS"/>
              </a:rPr>
              <a:t>unforeseen events.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6429375"/>
                </a:moveTo>
                <a:lnTo>
                  <a:pt x="0" y="6429375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29375"/>
                </a:lnTo>
                <a:close/>
              </a:path>
            </a:pathLst>
          </a:custGeom>
          <a:solidFill>
            <a:srgbClr val="F9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7466" y="536606"/>
            <a:ext cx="243268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80" dirty="0">
                <a:solidFill>
                  <a:srgbClr val="2D3B4E"/>
                </a:solidFill>
                <a:latin typeface="Verdana"/>
                <a:cs typeface="Verdana"/>
              </a:rPr>
              <a:t>Disaster</a:t>
            </a:r>
            <a:r>
              <a:rPr sz="1450" spc="-6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450" spc="-70" dirty="0">
                <a:solidFill>
                  <a:srgbClr val="2D3B4E"/>
                </a:solidFill>
                <a:latin typeface="Verdana"/>
                <a:cs typeface="Verdana"/>
              </a:rPr>
              <a:t>Recovery</a:t>
            </a:r>
            <a:r>
              <a:rPr sz="1450" spc="-6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2D3B4E"/>
                </a:solidFill>
                <a:latin typeface="Verdana"/>
                <a:cs typeface="Verdana"/>
              </a:rPr>
              <a:t>Scenarios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7466" y="809688"/>
            <a:ext cx="798512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90" dirty="0"/>
              <a:t>Ensuring</a:t>
            </a:r>
            <a:r>
              <a:rPr sz="2900" spc="-75" dirty="0"/>
              <a:t> </a:t>
            </a:r>
            <a:r>
              <a:rPr sz="2900" spc="-190" dirty="0"/>
              <a:t>Business</a:t>
            </a:r>
            <a:r>
              <a:rPr sz="2900" spc="-70" dirty="0"/>
              <a:t> </a:t>
            </a:r>
            <a:r>
              <a:rPr sz="2900" spc="-160" dirty="0"/>
              <a:t>Continuity</a:t>
            </a:r>
            <a:r>
              <a:rPr sz="2900" spc="-75" dirty="0"/>
              <a:t> </a:t>
            </a:r>
            <a:r>
              <a:rPr sz="2900" spc="-150" dirty="0"/>
              <a:t>and</a:t>
            </a:r>
            <a:r>
              <a:rPr sz="2900" spc="-70" dirty="0"/>
              <a:t> </a:t>
            </a:r>
            <a:r>
              <a:rPr sz="2900" spc="-220" dirty="0"/>
              <a:t>Data</a:t>
            </a:r>
            <a:r>
              <a:rPr sz="2900" spc="-70" dirty="0"/>
              <a:t> </a:t>
            </a:r>
            <a:r>
              <a:rPr sz="2900" spc="-145" dirty="0"/>
              <a:t>Integrity</a:t>
            </a:r>
            <a:endParaRPr sz="2900"/>
          </a:p>
        </p:txBody>
      </p:sp>
      <p:sp>
        <p:nvSpPr>
          <p:cNvPr id="5" name="object 5"/>
          <p:cNvSpPr txBox="1"/>
          <p:nvPr/>
        </p:nvSpPr>
        <p:spPr>
          <a:xfrm>
            <a:off x="607466" y="1474076"/>
            <a:ext cx="1009396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95"/>
              </a:spcBef>
            </a:pP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Robust disaster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recovery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 planning</a:t>
            </a:r>
            <a:r>
              <a:rPr sz="11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is paramount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 our</a:t>
            </a:r>
            <a:r>
              <a:rPr sz="11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critical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 Elasticsearch clusters. We</a:t>
            </a:r>
            <a:r>
              <a:rPr sz="11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have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identified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 and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strategized</a:t>
            </a:r>
            <a:r>
              <a:rPr sz="11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 various scenarios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minimize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downtime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prevent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data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loss.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9125" y="2095500"/>
            <a:ext cx="3305175" cy="447675"/>
            <a:chOff x="619125" y="2095500"/>
            <a:chExt cx="3305175" cy="447675"/>
          </a:xfrm>
        </p:grpSpPr>
        <p:sp>
          <p:nvSpPr>
            <p:cNvPr id="7" name="object 7"/>
            <p:cNvSpPr/>
            <p:nvPr/>
          </p:nvSpPr>
          <p:spPr>
            <a:xfrm>
              <a:off x="623885" y="2100260"/>
              <a:ext cx="3295650" cy="438150"/>
            </a:xfrm>
            <a:custGeom>
              <a:avLst/>
              <a:gdLst/>
              <a:ahLst/>
              <a:cxnLst/>
              <a:rect l="l" t="t" r="r" b="b"/>
              <a:pathLst>
                <a:path w="3295650" h="438150">
                  <a:moveTo>
                    <a:pt x="3076578" y="438150"/>
                  </a:moveTo>
                  <a:lnTo>
                    <a:pt x="219075" y="438150"/>
                  </a:lnTo>
                  <a:lnTo>
                    <a:pt x="208313" y="437887"/>
                  </a:lnTo>
                  <a:lnTo>
                    <a:pt x="165832" y="431583"/>
                  </a:lnTo>
                  <a:lnTo>
                    <a:pt x="125397" y="417112"/>
                  </a:lnTo>
                  <a:lnTo>
                    <a:pt x="88562" y="395031"/>
                  </a:lnTo>
                  <a:lnTo>
                    <a:pt x="56742" y="366190"/>
                  </a:lnTo>
                  <a:lnTo>
                    <a:pt x="31162" y="331692"/>
                  </a:lnTo>
                  <a:lnTo>
                    <a:pt x="12802" y="292869"/>
                  </a:lnTo>
                  <a:lnTo>
                    <a:pt x="2369" y="251209"/>
                  </a:lnTo>
                  <a:lnTo>
                    <a:pt x="0" y="219075"/>
                  </a:lnTo>
                  <a:lnTo>
                    <a:pt x="263" y="208313"/>
                  </a:lnTo>
                  <a:lnTo>
                    <a:pt x="6569" y="165832"/>
                  </a:lnTo>
                  <a:lnTo>
                    <a:pt x="21040" y="125397"/>
                  </a:lnTo>
                  <a:lnTo>
                    <a:pt x="43121" y="88562"/>
                  </a:lnTo>
                  <a:lnTo>
                    <a:pt x="71962" y="56742"/>
                  </a:lnTo>
                  <a:lnTo>
                    <a:pt x="106460" y="31162"/>
                  </a:lnTo>
                  <a:lnTo>
                    <a:pt x="145283" y="12802"/>
                  </a:lnTo>
                  <a:lnTo>
                    <a:pt x="186943" y="2369"/>
                  </a:lnTo>
                  <a:lnTo>
                    <a:pt x="219075" y="0"/>
                  </a:lnTo>
                  <a:lnTo>
                    <a:pt x="3076578" y="0"/>
                  </a:lnTo>
                  <a:lnTo>
                    <a:pt x="3119314" y="4212"/>
                  </a:lnTo>
                  <a:lnTo>
                    <a:pt x="3160413" y="16678"/>
                  </a:lnTo>
                  <a:lnTo>
                    <a:pt x="3198287" y="36923"/>
                  </a:lnTo>
                  <a:lnTo>
                    <a:pt x="3231486" y="64166"/>
                  </a:lnTo>
                  <a:lnTo>
                    <a:pt x="3258729" y="97365"/>
                  </a:lnTo>
                  <a:lnTo>
                    <a:pt x="3278974" y="135239"/>
                  </a:lnTo>
                  <a:lnTo>
                    <a:pt x="3291440" y="176335"/>
                  </a:lnTo>
                  <a:lnTo>
                    <a:pt x="3295653" y="219075"/>
                  </a:lnTo>
                  <a:lnTo>
                    <a:pt x="3295389" y="229838"/>
                  </a:lnTo>
                  <a:lnTo>
                    <a:pt x="3289083" y="272320"/>
                  </a:lnTo>
                  <a:lnTo>
                    <a:pt x="3274612" y="312755"/>
                  </a:lnTo>
                  <a:lnTo>
                    <a:pt x="3252531" y="349590"/>
                  </a:lnTo>
                  <a:lnTo>
                    <a:pt x="3223690" y="381410"/>
                  </a:lnTo>
                  <a:lnTo>
                    <a:pt x="3189192" y="406990"/>
                  </a:lnTo>
                  <a:lnTo>
                    <a:pt x="3150369" y="425350"/>
                  </a:lnTo>
                  <a:lnTo>
                    <a:pt x="3108708" y="435782"/>
                  </a:lnTo>
                  <a:lnTo>
                    <a:pt x="3076578" y="43815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50" y="2105024"/>
              <a:ext cx="3286125" cy="4286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3887" y="2100262"/>
              <a:ext cx="3295650" cy="438150"/>
            </a:xfrm>
            <a:custGeom>
              <a:avLst/>
              <a:gdLst/>
              <a:ahLst/>
              <a:cxnLst/>
              <a:rect l="l" t="t" r="r" b="b"/>
              <a:pathLst>
                <a:path w="3295650" h="438150">
                  <a:moveTo>
                    <a:pt x="0" y="219075"/>
                  </a:moveTo>
                  <a:lnTo>
                    <a:pt x="0" y="211902"/>
                  </a:lnTo>
                  <a:lnTo>
                    <a:pt x="352" y="204739"/>
                  </a:lnTo>
                  <a:lnTo>
                    <a:pt x="1057" y="197605"/>
                  </a:lnTo>
                  <a:lnTo>
                    <a:pt x="1762" y="190461"/>
                  </a:lnTo>
                  <a:lnTo>
                    <a:pt x="2809" y="183375"/>
                  </a:lnTo>
                  <a:lnTo>
                    <a:pt x="4210" y="176336"/>
                  </a:lnTo>
                  <a:lnTo>
                    <a:pt x="5610" y="169297"/>
                  </a:lnTo>
                  <a:lnTo>
                    <a:pt x="16678" y="135235"/>
                  </a:lnTo>
                  <a:lnTo>
                    <a:pt x="19421" y="128606"/>
                  </a:lnTo>
                  <a:lnTo>
                    <a:pt x="40909" y="91401"/>
                  </a:lnTo>
                  <a:lnTo>
                    <a:pt x="49730" y="80095"/>
                  </a:lnTo>
                  <a:lnTo>
                    <a:pt x="54282" y="74552"/>
                  </a:lnTo>
                  <a:lnTo>
                    <a:pt x="59093" y="69237"/>
                  </a:lnTo>
                  <a:lnTo>
                    <a:pt x="64169" y="64169"/>
                  </a:lnTo>
                  <a:lnTo>
                    <a:pt x="69237" y="59093"/>
                  </a:lnTo>
                  <a:lnTo>
                    <a:pt x="103327" y="32937"/>
                  </a:lnTo>
                  <a:lnTo>
                    <a:pt x="115804" y="25869"/>
                  </a:lnTo>
                  <a:lnTo>
                    <a:pt x="122129" y="22488"/>
                  </a:lnTo>
                  <a:lnTo>
                    <a:pt x="128606" y="19421"/>
                  </a:lnTo>
                  <a:lnTo>
                    <a:pt x="135235" y="16678"/>
                  </a:lnTo>
                  <a:lnTo>
                    <a:pt x="141865" y="13925"/>
                  </a:lnTo>
                  <a:lnTo>
                    <a:pt x="183375" y="2809"/>
                  </a:lnTo>
                  <a:lnTo>
                    <a:pt x="197605" y="1057"/>
                  </a:lnTo>
                  <a:lnTo>
                    <a:pt x="204739" y="352"/>
                  </a:lnTo>
                  <a:lnTo>
                    <a:pt x="211902" y="0"/>
                  </a:lnTo>
                  <a:lnTo>
                    <a:pt x="219075" y="0"/>
                  </a:lnTo>
                  <a:lnTo>
                    <a:pt x="3076575" y="0"/>
                  </a:lnTo>
                  <a:lnTo>
                    <a:pt x="3083747" y="0"/>
                  </a:lnTo>
                  <a:lnTo>
                    <a:pt x="3090910" y="352"/>
                  </a:lnTo>
                  <a:lnTo>
                    <a:pt x="3098044" y="1057"/>
                  </a:lnTo>
                  <a:lnTo>
                    <a:pt x="3105188" y="1762"/>
                  </a:lnTo>
                  <a:lnTo>
                    <a:pt x="3147031" y="11515"/>
                  </a:lnTo>
                  <a:lnTo>
                    <a:pt x="3179845" y="25869"/>
                  </a:lnTo>
                  <a:lnTo>
                    <a:pt x="3186169" y="29251"/>
                  </a:lnTo>
                  <a:lnTo>
                    <a:pt x="3221097" y="54282"/>
                  </a:lnTo>
                  <a:lnTo>
                    <a:pt x="3231480" y="64169"/>
                  </a:lnTo>
                  <a:lnTo>
                    <a:pt x="3236556" y="69237"/>
                  </a:lnTo>
                  <a:lnTo>
                    <a:pt x="3241367" y="74552"/>
                  </a:lnTo>
                  <a:lnTo>
                    <a:pt x="3245919" y="80095"/>
                  </a:lnTo>
                  <a:lnTo>
                    <a:pt x="3250472" y="85639"/>
                  </a:lnTo>
                  <a:lnTo>
                    <a:pt x="3269780" y="115804"/>
                  </a:lnTo>
                  <a:lnTo>
                    <a:pt x="3273161" y="122129"/>
                  </a:lnTo>
                  <a:lnTo>
                    <a:pt x="3288296" y="162344"/>
                  </a:lnTo>
                  <a:lnTo>
                    <a:pt x="3291439" y="176336"/>
                  </a:lnTo>
                  <a:lnTo>
                    <a:pt x="3292840" y="183375"/>
                  </a:lnTo>
                  <a:lnTo>
                    <a:pt x="3293887" y="190461"/>
                  </a:lnTo>
                  <a:lnTo>
                    <a:pt x="3294592" y="197605"/>
                  </a:lnTo>
                  <a:lnTo>
                    <a:pt x="3295297" y="204739"/>
                  </a:lnTo>
                  <a:lnTo>
                    <a:pt x="3295650" y="211902"/>
                  </a:lnTo>
                  <a:lnTo>
                    <a:pt x="3295650" y="219075"/>
                  </a:lnTo>
                  <a:lnTo>
                    <a:pt x="3295650" y="226247"/>
                  </a:lnTo>
                  <a:lnTo>
                    <a:pt x="3295297" y="233410"/>
                  </a:lnTo>
                  <a:lnTo>
                    <a:pt x="3294592" y="240544"/>
                  </a:lnTo>
                  <a:lnTo>
                    <a:pt x="3293887" y="247688"/>
                  </a:lnTo>
                  <a:lnTo>
                    <a:pt x="3292840" y="254774"/>
                  </a:lnTo>
                  <a:lnTo>
                    <a:pt x="3291439" y="261813"/>
                  </a:lnTo>
                  <a:lnTo>
                    <a:pt x="3290039" y="268852"/>
                  </a:lnTo>
                  <a:lnTo>
                    <a:pt x="3276228" y="309543"/>
                  </a:lnTo>
                  <a:lnTo>
                    <a:pt x="3254740" y="346748"/>
                  </a:lnTo>
                  <a:lnTo>
                    <a:pt x="3245919" y="358054"/>
                  </a:lnTo>
                  <a:lnTo>
                    <a:pt x="3241367" y="363597"/>
                  </a:lnTo>
                  <a:lnTo>
                    <a:pt x="3236556" y="368912"/>
                  </a:lnTo>
                  <a:lnTo>
                    <a:pt x="3231480" y="373980"/>
                  </a:lnTo>
                  <a:lnTo>
                    <a:pt x="3226412" y="379056"/>
                  </a:lnTo>
                  <a:lnTo>
                    <a:pt x="3192322" y="405212"/>
                  </a:lnTo>
                  <a:lnTo>
                    <a:pt x="3153784" y="424214"/>
                  </a:lnTo>
                  <a:lnTo>
                    <a:pt x="3112274" y="435340"/>
                  </a:lnTo>
                  <a:lnTo>
                    <a:pt x="3098044" y="437092"/>
                  </a:lnTo>
                  <a:lnTo>
                    <a:pt x="3090910" y="437797"/>
                  </a:lnTo>
                  <a:lnTo>
                    <a:pt x="3083747" y="438150"/>
                  </a:lnTo>
                  <a:lnTo>
                    <a:pt x="3076575" y="438150"/>
                  </a:lnTo>
                  <a:lnTo>
                    <a:pt x="219075" y="438150"/>
                  </a:lnTo>
                  <a:lnTo>
                    <a:pt x="211902" y="438150"/>
                  </a:lnTo>
                  <a:lnTo>
                    <a:pt x="204739" y="437797"/>
                  </a:lnTo>
                  <a:lnTo>
                    <a:pt x="197605" y="437092"/>
                  </a:lnTo>
                  <a:lnTo>
                    <a:pt x="190461" y="436387"/>
                  </a:lnTo>
                  <a:lnTo>
                    <a:pt x="183375" y="435340"/>
                  </a:lnTo>
                  <a:lnTo>
                    <a:pt x="176336" y="433939"/>
                  </a:lnTo>
                  <a:lnTo>
                    <a:pt x="169297" y="432539"/>
                  </a:lnTo>
                  <a:lnTo>
                    <a:pt x="128606" y="418728"/>
                  </a:lnTo>
                  <a:lnTo>
                    <a:pt x="91401" y="397240"/>
                  </a:lnTo>
                  <a:lnTo>
                    <a:pt x="64169" y="373980"/>
                  </a:lnTo>
                  <a:lnTo>
                    <a:pt x="59093" y="368912"/>
                  </a:lnTo>
                  <a:lnTo>
                    <a:pt x="54282" y="363597"/>
                  </a:lnTo>
                  <a:lnTo>
                    <a:pt x="49730" y="358054"/>
                  </a:lnTo>
                  <a:lnTo>
                    <a:pt x="45177" y="352510"/>
                  </a:lnTo>
                  <a:lnTo>
                    <a:pt x="22488" y="316020"/>
                  </a:lnTo>
                  <a:lnTo>
                    <a:pt x="16678" y="302914"/>
                  </a:lnTo>
                  <a:lnTo>
                    <a:pt x="13925" y="296284"/>
                  </a:lnTo>
                  <a:lnTo>
                    <a:pt x="4210" y="261813"/>
                  </a:lnTo>
                  <a:lnTo>
                    <a:pt x="2809" y="254774"/>
                  </a:lnTo>
                  <a:lnTo>
                    <a:pt x="1762" y="247688"/>
                  </a:lnTo>
                  <a:lnTo>
                    <a:pt x="1057" y="240544"/>
                  </a:lnTo>
                  <a:lnTo>
                    <a:pt x="352" y="233410"/>
                  </a:lnTo>
                  <a:lnTo>
                    <a:pt x="0" y="226247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54653" y="2166715"/>
            <a:ext cx="3007360" cy="3181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140"/>
              </a:spcBef>
            </a:pPr>
            <a:r>
              <a:rPr sz="1700" dirty="0">
                <a:solidFill>
                  <a:srgbClr val="384653"/>
                </a:solidFill>
                <a:latin typeface="Verdana"/>
                <a:cs typeface="Verdana"/>
              </a:rPr>
              <a:t>1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450" spc="-75" dirty="0">
                <a:solidFill>
                  <a:srgbClr val="384653"/>
                </a:solidFill>
                <a:latin typeface="Verdana"/>
                <a:cs typeface="Verdana"/>
              </a:rPr>
              <a:t>Planned</a:t>
            </a:r>
            <a:r>
              <a:rPr sz="1450" spc="1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90" dirty="0">
                <a:solidFill>
                  <a:srgbClr val="384653"/>
                </a:solidFill>
                <a:latin typeface="Verdana"/>
                <a:cs typeface="Verdana"/>
              </a:rPr>
              <a:t>Datacenter</a:t>
            </a:r>
            <a:r>
              <a:rPr sz="1450" spc="1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84653"/>
                </a:solidFill>
                <a:latin typeface="Verdana"/>
                <a:cs typeface="Verdana"/>
              </a:rPr>
              <a:t>Downtime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23400"/>
              </a:lnSpc>
              <a:spcBef>
                <a:spcPts val="484"/>
              </a:spcBef>
            </a:pP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All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nodes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in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impacted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cluster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will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be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migrated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operational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side,</a:t>
            </a:r>
            <a:r>
              <a:rPr sz="1150" spc="-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turning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down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masters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in</a:t>
            </a:r>
            <a:r>
              <a:rPr sz="11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maintenance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DC.</a:t>
            </a:r>
            <a:r>
              <a:rPr sz="11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80" dirty="0">
                <a:solidFill>
                  <a:srgbClr val="384653"/>
                </a:solidFill>
                <a:latin typeface="Trebuchet MS"/>
                <a:cs typeface="Trebuchet MS"/>
              </a:rPr>
              <a:t>A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'grey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master'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will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be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enabled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if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that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side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remains</a:t>
            </a:r>
            <a:r>
              <a:rPr sz="1150" spc="50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60" dirty="0">
                <a:solidFill>
                  <a:srgbClr val="384653"/>
                </a:solidFill>
                <a:latin typeface="Trebuchet MS"/>
                <a:cs typeface="Trebuchet MS"/>
              </a:rPr>
              <a:t>up,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ensuring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cluster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operates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with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384653"/>
                </a:solidFill>
                <a:latin typeface="Trebuchet MS"/>
                <a:cs typeface="Trebuchet MS"/>
              </a:rPr>
              <a:t>3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</a:t>
            </a:r>
            <a:r>
              <a:rPr sz="1150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nodes.</a:t>
            </a:r>
            <a:r>
              <a:rPr sz="1150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Adequate</a:t>
            </a:r>
            <a:r>
              <a:rPr sz="1150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space</a:t>
            </a:r>
            <a:r>
              <a:rPr sz="1150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 processing</a:t>
            </a:r>
            <a:r>
              <a:rPr sz="1150" spc="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capacity</a:t>
            </a:r>
            <a:r>
              <a:rPr sz="1150" spc="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(nodes</a:t>
            </a:r>
            <a:r>
              <a:rPr sz="1150" spc="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running</a:t>
            </a:r>
            <a:r>
              <a:rPr sz="1150" spc="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at</a:t>
            </a:r>
            <a:r>
              <a:rPr sz="1150" spc="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no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more</a:t>
            </a:r>
            <a:r>
              <a:rPr sz="1150" spc="-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than</a:t>
            </a:r>
            <a:r>
              <a:rPr sz="1150" spc="-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85" dirty="0">
                <a:solidFill>
                  <a:srgbClr val="384653"/>
                </a:solidFill>
                <a:latin typeface="Trebuchet MS"/>
                <a:cs typeface="Trebuchet MS"/>
              </a:rPr>
              <a:t>40%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capacity)</a:t>
            </a:r>
            <a:r>
              <a:rPr sz="1150" spc="-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are</a:t>
            </a:r>
            <a:r>
              <a:rPr sz="1150" spc="-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required</a:t>
            </a:r>
            <a:r>
              <a:rPr sz="1150" spc="-5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to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handle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2x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volume.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Failback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involves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removing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'grey'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returning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steady</a:t>
            </a:r>
            <a:r>
              <a:rPr sz="1150" spc="50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state.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67175" y="2095500"/>
            <a:ext cx="3295650" cy="447675"/>
            <a:chOff x="4067175" y="2095500"/>
            <a:chExt cx="3295650" cy="447675"/>
          </a:xfrm>
        </p:grpSpPr>
        <p:sp>
          <p:nvSpPr>
            <p:cNvPr id="12" name="object 12"/>
            <p:cNvSpPr/>
            <p:nvPr/>
          </p:nvSpPr>
          <p:spPr>
            <a:xfrm>
              <a:off x="4071939" y="2100260"/>
              <a:ext cx="3286125" cy="438150"/>
            </a:xfrm>
            <a:custGeom>
              <a:avLst/>
              <a:gdLst/>
              <a:ahLst/>
              <a:cxnLst/>
              <a:rect l="l" t="t" r="r" b="b"/>
              <a:pathLst>
                <a:path w="3286125" h="438150">
                  <a:moveTo>
                    <a:pt x="3067050" y="438150"/>
                  </a:moveTo>
                  <a:lnTo>
                    <a:pt x="219075" y="438150"/>
                  </a:lnTo>
                  <a:lnTo>
                    <a:pt x="208311" y="437887"/>
                  </a:lnTo>
                  <a:lnTo>
                    <a:pt x="165828" y="431583"/>
                  </a:lnTo>
                  <a:lnTo>
                    <a:pt x="125394" y="417112"/>
                  </a:lnTo>
                  <a:lnTo>
                    <a:pt x="88559" y="395031"/>
                  </a:lnTo>
                  <a:lnTo>
                    <a:pt x="56739" y="366190"/>
                  </a:lnTo>
                  <a:lnTo>
                    <a:pt x="31156" y="331692"/>
                  </a:lnTo>
                  <a:lnTo>
                    <a:pt x="12797" y="292869"/>
                  </a:lnTo>
                  <a:lnTo>
                    <a:pt x="2365" y="251209"/>
                  </a:lnTo>
                  <a:lnTo>
                    <a:pt x="0" y="219075"/>
                  </a:lnTo>
                  <a:lnTo>
                    <a:pt x="261" y="208313"/>
                  </a:lnTo>
                  <a:lnTo>
                    <a:pt x="6564" y="165832"/>
                  </a:lnTo>
                  <a:lnTo>
                    <a:pt x="21034" y="125397"/>
                  </a:lnTo>
                  <a:lnTo>
                    <a:pt x="43115" y="88562"/>
                  </a:lnTo>
                  <a:lnTo>
                    <a:pt x="71959" y="56742"/>
                  </a:lnTo>
                  <a:lnTo>
                    <a:pt x="106457" y="31162"/>
                  </a:lnTo>
                  <a:lnTo>
                    <a:pt x="145280" y="12802"/>
                  </a:lnTo>
                  <a:lnTo>
                    <a:pt x="186940" y="2369"/>
                  </a:lnTo>
                  <a:lnTo>
                    <a:pt x="219075" y="0"/>
                  </a:lnTo>
                  <a:lnTo>
                    <a:pt x="3067050" y="0"/>
                  </a:lnTo>
                  <a:lnTo>
                    <a:pt x="3109789" y="4212"/>
                  </a:lnTo>
                  <a:lnTo>
                    <a:pt x="3150885" y="16678"/>
                  </a:lnTo>
                  <a:lnTo>
                    <a:pt x="3188759" y="36923"/>
                  </a:lnTo>
                  <a:lnTo>
                    <a:pt x="3221958" y="64166"/>
                  </a:lnTo>
                  <a:lnTo>
                    <a:pt x="3249201" y="97365"/>
                  </a:lnTo>
                  <a:lnTo>
                    <a:pt x="3269446" y="135239"/>
                  </a:lnTo>
                  <a:lnTo>
                    <a:pt x="3281912" y="176335"/>
                  </a:lnTo>
                  <a:lnTo>
                    <a:pt x="3286125" y="219075"/>
                  </a:lnTo>
                  <a:lnTo>
                    <a:pt x="3285860" y="229838"/>
                  </a:lnTo>
                  <a:lnTo>
                    <a:pt x="3279554" y="272320"/>
                  </a:lnTo>
                  <a:lnTo>
                    <a:pt x="3265084" y="312755"/>
                  </a:lnTo>
                  <a:lnTo>
                    <a:pt x="3243003" y="349590"/>
                  </a:lnTo>
                  <a:lnTo>
                    <a:pt x="3214162" y="381410"/>
                  </a:lnTo>
                  <a:lnTo>
                    <a:pt x="3179664" y="406990"/>
                  </a:lnTo>
                  <a:lnTo>
                    <a:pt x="3140841" y="425350"/>
                  </a:lnTo>
                  <a:lnTo>
                    <a:pt x="3099181" y="435782"/>
                  </a:lnTo>
                  <a:lnTo>
                    <a:pt x="3067050" y="43815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2105024"/>
              <a:ext cx="3276600" cy="4286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71937" y="2100262"/>
              <a:ext cx="3286125" cy="438150"/>
            </a:xfrm>
            <a:custGeom>
              <a:avLst/>
              <a:gdLst/>
              <a:ahLst/>
              <a:cxnLst/>
              <a:rect l="l" t="t" r="r" b="b"/>
              <a:pathLst>
                <a:path w="3286125" h="438150">
                  <a:moveTo>
                    <a:pt x="0" y="219075"/>
                  </a:moveTo>
                  <a:lnTo>
                    <a:pt x="0" y="211902"/>
                  </a:lnTo>
                  <a:lnTo>
                    <a:pt x="352" y="204739"/>
                  </a:lnTo>
                  <a:lnTo>
                    <a:pt x="1057" y="197605"/>
                  </a:lnTo>
                  <a:lnTo>
                    <a:pt x="1762" y="190461"/>
                  </a:lnTo>
                  <a:lnTo>
                    <a:pt x="2809" y="183375"/>
                  </a:lnTo>
                  <a:lnTo>
                    <a:pt x="4210" y="176336"/>
                  </a:lnTo>
                  <a:lnTo>
                    <a:pt x="5610" y="169297"/>
                  </a:lnTo>
                  <a:lnTo>
                    <a:pt x="16678" y="135235"/>
                  </a:lnTo>
                  <a:lnTo>
                    <a:pt x="19421" y="128606"/>
                  </a:lnTo>
                  <a:lnTo>
                    <a:pt x="40909" y="91401"/>
                  </a:lnTo>
                  <a:lnTo>
                    <a:pt x="49730" y="80095"/>
                  </a:lnTo>
                  <a:lnTo>
                    <a:pt x="54282" y="74552"/>
                  </a:lnTo>
                  <a:lnTo>
                    <a:pt x="59093" y="69237"/>
                  </a:lnTo>
                  <a:lnTo>
                    <a:pt x="64169" y="64169"/>
                  </a:lnTo>
                  <a:lnTo>
                    <a:pt x="69237" y="59093"/>
                  </a:lnTo>
                  <a:lnTo>
                    <a:pt x="103327" y="32937"/>
                  </a:lnTo>
                  <a:lnTo>
                    <a:pt x="115804" y="25869"/>
                  </a:lnTo>
                  <a:lnTo>
                    <a:pt x="122129" y="22488"/>
                  </a:lnTo>
                  <a:lnTo>
                    <a:pt x="128606" y="19421"/>
                  </a:lnTo>
                  <a:lnTo>
                    <a:pt x="135235" y="16678"/>
                  </a:lnTo>
                  <a:lnTo>
                    <a:pt x="141865" y="13925"/>
                  </a:lnTo>
                  <a:lnTo>
                    <a:pt x="183375" y="2809"/>
                  </a:lnTo>
                  <a:lnTo>
                    <a:pt x="197605" y="1057"/>
                  </a:lnTo>
                  <a:lnTo>
                    <a:pt x="204739" y="352"/>
                  </a:lnTo>
                  <a:lnTo>
                    <a:pt x="211902" y="0"/>
                  </a:lnTo>
                  <a:lnTo>
                    <a:pt x="219075" y="0"/>
                  </a:lnTo>
                  <a:lnTo>
                    <a:pt x="3067050" y="0"/>
                  </a:lnTo>
                  <a:lnTo>
                    <a:pt x="3074222" y="0"/>
                  </a:lnTo>
                  <a:lnTo>
                    <a:pt x="3081385" y="352"/>
                  </a:lnTo>
                  <a:lnTo>
                    <a:pt x="3088519" y="1057"/>
                  </a:lnTo>
                  <a:lnTo>
                    <a:pt x="3095663" y="1762"/>
                  </a:lnTo>
                  <a:lnTo>
                    <a:pt x="3137506" y="11515"/>
                  </a:lnTo>
                  <a:lnTo>
                    <a:pt x="3170320" y="25869"/>
                  </a:lnTo>
                  <a:lnTo>
                    <a:pt x="3176644" y="29251"/>
                  </a:lnTo>
                  <a:lnTo>
                    <a:pt x="3211572" y="54282"/>
                  </a:lnTo>
                  <a:lnTo>
                    <a:pt x="3221955" y="64169"/>
                  </a:lnTo>
                  <a:lnTo>
                    <a:pt x="3227031" y="69237"/>
                  </a:lnTo>
                  <a:lnTo>
                    <a:pt x="3231842" y="74552"/>
                  </a:lnTo>
                  <a:lnTo>
                    <a:pt x="3236394" y="80095"/>
                  </a:lnTo>
                  <a:lnTo>
                    <a:pt x="3240947" y="85639"/>
                  </a:lnTo>
                  <a:lnTo>
                    <a:pt x="3260255" y="115804"/>
                  </a:lnTo>
                  <a:lnTo>
                    <a:pt x="3263636" y="122129"/>
                  </a:lnTo>
                  <a:lnTo>
                    <a:pt x="3278771" y="162344"/>
                  </a:lnTo>
                  <a:lnTo>
                    <a:pt x="3281914" y="176336"/>
                  </a:lnTo>
                  <a:lnTo>
                    <a:pt x="3283315" y="183375"/>
                  </a:lnTo>
                  <a:lnTo>
                    <a:pt x="3284362" y="190461"/>
                  </a:lnTo>
                  <a:lnTo>
                    <a:pt x="3285067" y="197605"/>
                  </a:lnTo>
                  <a:lnTo>
                    <a:pt x="3285772" y="204739"/>
                  </a:lnTo>
                  <a:lnTo>
                    <a:pt x="3286125" y="211902"/>
                  </a:lnTo>
                  <a:lnTo>
                    <a:pt x="3286125" y="219075"/>
                  </a:lnTo>
                  <a:lnTo>
                    <a:pt x="3286125" y="226247"/>
                  </a:lnTo>
                  <a:lnTo>
                    <a:pt x="3285772" y="233410"/>
                  </a:lnTo>
                  <a:lnTo>
                    <a:pt x="3285067" y="240544"/>
                  </a:lnTo>
                  <a:lnTo>
                    <a:pt x="3284362" y="247688"/>
                  </a:lnTo>
                  <a:lnTo>
                    <a:pt x="3283315" y="254774"/>
                  </a:lnTo>
                  <a:lnTo>
                    <a:pt x="3281914" y="261813"/>
                  </a:lnTo>
                  <a:lnTo>
                    <a:pt x="3280514" y="268852"/>
                  </a:lnTo>
                  <a:lnTo>
                    <a:pt x="3266703" y="309543"/>
                  </a:lnTo>
                  <a:lnTo>
                    <a:pt x="3245215" y="346748"/>
                  </a:lnTo>
                  <a:lnTo>
                    <a:pt x="3236394" y="358054"/>
                  </a:lnTo>
                  <a:lnTo>
                    <a:pt x="3231842" y="363597"/>
                  </a:lnTo>
                  <a:lnTo>
                    <a:pt x="3227031" y="368912"/>
                  </a:lnTo>
                  <a:lnTo>
                    <a:pt x="3221955" y="373980"/>
                  </a:lnTo>
                  <a:lnTo>
                    <a:pt x="3216887" y="379056"/>
                  </a:lnTo>
                  <a:lnTo>
                    <a:pt x="3182797" y="405212"/>
                  </a:lnTo>
                  <a:lnTo>
                    <a:pt x="3144259" y="424214"/>
                  </a:lnTo>
                  <a:lnTo>
                    <a:pt x="3102749" y="435340"/>
                  </a:lnTo>
                  <a:lnTo>
                    <a:pt x="3088519" y="437092"/>
                  </a:lnTo>
                  <a:lnTo>
                    <a:pt x="3081385" y="437797"/>
                  </a:lnTo>
                  <a:lnTo>
                    <a:pt x="3074222" y="438150"/>
                  </a:lnTo>
                  <a:lnTo>
                    <a:pt x="3067050" y="438150"/>
                  </a:lnTo>
                  <a:lnTo>
                    <a:pt x="219075" y="438150"/>
                  </a:lnTo>
                  <a:lnTo>
                    <a:pt x="211902" y="438150"/>
                  </a:lnTo>
                  <a:lnTo>
                    <a:pt x="204739" y="437797"/>
                  </a:lnTo>
                  <a:lnTo>
                    <a:pt x="197605" y="437092"/>
                  </a:lnTo>
                  <a:lnTo>
                    <a:pt x="190461" y="436387"/>
                  </a:lnTo>
                  <a:lnTo>
                    <a:pt x="183375" y="435340"/>
                  </a:lnTo>
                  <a:lnTo>
                    <a:pt x="176336" y="433939"/>
                  </a:lnTo>
                  <a:lnTo>
                    <a:pt x="169297" y="432539"/>
                  </a:lnTo>
                  <a:lnTo>
                    <a:pt x="128606" y="418728"/>
                  </a:lnTo>
                  <a:lnTo>
                    <a:pt x="115804" y="412280"/>
                  </a:lnTo>
                  <a:lnTo>
                    <a:pt x="109470" y="408898"/>
                  </a:lnTo>
                  <a:lnTo>
                    <a:pt x="74552" y="383867"/>
                  </a:lnTo>
                  <a:lnTo>
                    <a:pt x="64169" y="373980"/>
                  </a:lnTo>
                  <a:lnTo>
                    <a:pt x="59093" y="368912"/>
                  </a:lnTo>
                  <a:lnTo>
                    <a:pt x="54282" y="363597"/>
                  </a:lnTo>
                  <a:lnTo>
                    <a:pt x="49730" y="358054"/>
                  </a:lnTo>
                  <a:lnTo>
                    <a:pt x="45177" y="352510"/>
                  </a:lnTo>
                  <a:lnTo>
                    <a:pt x="22488" y="316020"/>
                  </a:lnTo>
                  <a:lnTo>
                    <a:pt x="16678" y="302914"/>
                  </a:lnTo>
                  <a:lnTo>
                    <a:pt x="13925" y="296284"/>
                  </a:lnTo>
                  <a:lnTo>
                    <a:pt x="4210" y="261813"/>
                  </a:lnTo>
                  <a:lnTo>
                    <a:pt x="2809" y="254774"/>
                  </a:lnTo>
                  <a:lnTo>
                    <a:pt x="1762" y="247688"/>
                  </a:lnTo>
                  <a:lnTo>
                    <a:pt x="1057" y="240544"/>
                  </a:lnTo>
                  <a:lnTo>
                    <a:pt x="352" y="233410"/>
                  </a:lnTo>
                  <a:lnTo>
                    <a:pt x="0" y="226247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97792" y="2166715"/>
            <a:ext cx="2848610" cy="18954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85420" algn="ctr">
              <a:lnSpc>
                <a:spcPct val="100000"/>
              </a:lnSpc>
              <a:spcBef>
                <a:spcPts val="140"/>
              </a:spcBef>
            </a:pPr>
            <a:r>
              <a:rPr sz="1700" dirty="0">
                <a:solidFill>
                  <a:srgbClr val="384653"/>
                </a:solidFill>
                <a:latin typeface="Verdana"/>
                <a:cs typeface="Verdana"/>
              </a:rPr>
              <a:t>2</a:t>
            </a:r>
            <a:endParaRPr sz="1700">
              <a:latin typeface="Verdana"/>
              <a:cs typeface="Verdana"/>
            </a:endParaRPr>
          </a:p>
          <a:p>
            <a:pPr marL="12700" marR="29209">
              <a:lnSpc>
                <a:spcPct val="107800"/>
              </a:lnSpc>
              <a:spcBef>
                <a:spcPts val="1670"/>
              </a:spcBef>
            </a:pPr>
            <a:r>
              <a:rPr sz="1450" spc="-80" dirty="0">
                <a:solidFill>
                  <a:srgbClr val="384653"/>
                </a:solidFill>
                <a:latin typeface="Verdana"/>
                <a:cs typeface="Verdana"/>
              </a:rPr>
              <a:t>Unplanned</a:t>
            </a:r>
            <a:r>
              <a:rPr sz="1450" spc="-1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90" dirty="0">
                <a:solidFill>
                  <a:srgbClr val="384653"/>
                </a:solidFill>
                <a:latin typeface="Verdana"/>
                <a:cs typeface="Verdana"/>
              </a:rPr>
              <a:t>Datacenter</a:t>
            </a:r>
            <a:r>
              <a:rPr sz="1450" spc="-1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384653"/>
                </a:solidFill>
                <a:latin typeface="Verdana"/>
                <a:cs typeface="Verdana"/>
              </a:rPr>
              <a:t>Outage</a:t>
            </a:r>
            <a:r>
              <a:rPr sz="1450" spc="-1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384653"/>
                </a:solidFill>
                <a:latin typeface="Verdana"/>
                <a:cs typeface="Verdana"/>
              </a:rPr>
              <a:t>(3 </a:t>
            </a:r>
            <a:r>
              <a:rPr sz="1450" spc="-70" dirty="0">
                <a:solidFill>
                  <a:srgbClr val="384653"/>
                </a:solidFill>
                <a:latin typeface="Verdana"/>
                <a:cs typeface="Verdana"/>
              </a:rPr>
              <a:t>Master</a:t>
            </a:r>
            <a:r>
              <a:rPr sz="1450" spc="-1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84653"/>
                </a:solidFill>
                <a:latin typeface="Verdana"/>
                <a:cs typeface="Verdana"/>
              </a:rPr>
              <a:t>Nodes)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21400"/>
              </a:lnSpc>
              <a:spcBef>
                <a:spcPts val="515"/>
              </a:spcBef>
            </a:pP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Similar</a:t>
            </a:r>
            <a:r>
              <a:rPr sz="1150" spc="-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-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planned</a:t>
            </a:r>
            <a:r>
              <a:rPr sz="1150" spc="-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downtime,</a:t>
            </a:r>
            <a:r>
              <a:rPr sz="1150" spc="-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but</a:t>
            </a:r>
            <a:r>
              <a:rPr sz="1150" spc="-4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requires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spinning</a:t>
            </a:r>
            <a:r>
              <a:rPr sz="11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up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'off'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</a:t>
            </a:r>
            <a:r>
              <a:rPr sz="11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node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prevent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potential</a:t>
            </a:r>
            <a:r>
              <a:rPr sz="11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split-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brain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scenarios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in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cluster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running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with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only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2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nodes.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05700" y="2095500"/>
            <a:ext cx="3305175" cy="447675"/>
            <a:chOff x="7505700" y="2095500"/>
            <a:chExt cx="3305175" cy="447675"/>
          </a:xfrm>
        </p:grpSpPr>
        <p:sp>
          <p:nvSpPr>
            <p:cNvPr id="17" name="object 17"/>
            <p:cNvSpPr/>
            <p:nvPr/>
          </p:nvSpPr>
          <p:spPr>
            <a:xfrm>
              <a:off x="7510464" y="2100260"/>
              <a:ext cx="3295650" cy="438150"/>
            </a:xfrm>
            <a:custGeom>
              <a:avLst/>
              <a:gdLst/>
              <a:ahLst/>
              <a:cxnLst/>
              <a:rect l="l" t="t" r="r" b="b"/>
              <a:pathLst>
                <a:path w="3295650" h="438150">
                  <a:moveTo>
                    <a:pt x="3076575" y="438150"/>
                  </a:moveTo>
                  <a:lnTo>
                    <a:pt x="219075" y="438150"/>
                  </a:lnTo>
                  <a:lnTo>
                    <a:pt x="208311" y="437887"/>
                  </a:lnTo>
                  <a:lnTo>
                    <a:pt x="165828" y="431583"/>
                  </a:lnTo>
                  <a:lnTo>
                    <a:pt x="125394" y="417112"/>
                  </a:lnTo>
                  <a:lnTo>
                    <a:pt x="88559" y="395031"/>
                  </a:lnTo>
                  <a:lnTo>
                    <a:pt x="56739" y="366190"/>
                  </a:lnTo>
                  <a:lnTo>
                    <a:pt x="31157" y="331692"/>
                  </a:lnTo>
                  <a:lnTo>
                    <a:pt x="12798" y="292869"/>
                  </a:lnTo>
                  <a:lnTo>
                    <a:pt x="2365" y="251209"/>
                  </a:lnTo>
                  <a:lnTo>
                    <a:pt x="0" y="219075"/>
                  </a:lnTo>
                  <a:lnTo>
                    <a:pt x="261" y="208313"/>
                  </a:lnTo>
                  <a:lnTo>
                    <a:pt x="6564" y="165832"/>
                  </a:lnTo>
                  <a:lnTo>
                    <a:pt x="21034" y="125397"/>
                  </a:lnTo>
                  <a:lnTo>
                    <a:pt x="43117" y="88562"/>
                  </a:lnTo>
                  <a:lnTo>
                    <a:pt x="71959" y="56742"/>
                  </a:lnTo>
                  <a:lnTo>
                    <a:pt x="106457" y="31162"/>
                  </a:lnTo>
                  <a:lnTo>
                    <a:pt x="145280" y="12802"/>
                  </a:lnTo>
                  <a:lnTo>
                    <a:pt x="186940" y="2369"/>
                  </a:lnTo>
                  <a:lnTo>
                    <a:pt x="219075" y="0"/>
                  </a:lnTo>
                  <a:lnTo>
                    <a:pt x="3076575" y="0"/>
                  </a:lnTo>
                  <a:lnTo>
                    <a:pt x="3119311" y="4212"/>
                  </a:lnTo>
                  <a:lnTo>
                    <a:pt x="3160407" y="16678"/>
                  </a:lnTo>
                  <a:lnTo>
                    <a:pt x="3198284" y="36923"/>
                  </a:lnTo>
                  <a:lnTo>
                    <a:pt x="3231480" y="64166"/>
                  </a:lnTo>
                  <a:lnTo>
                    <a:pt x="3258726" y="97365"/>
                  </a:lnTo>
                  <a:lnTo>
                    <a:pt x="3278971" y="135239"/>
                  </a:lnTo>
                  <a:lnTo>
                    <a:pt x="3291437" y="176335"/>
                  </a:lnTo>
                  <a:lnTo>
                    <a:pt x="3295650" y="219075"/>
                  </a:lnTo>
                  <a:lnTo>
                    <a:pt x="3295385" y="229838"/>
                  </a:lnTo>
                  <a:lnTo>
                    <a:pt x="3289079" y="272320"/>
                  </a:lnTo>
                  <a:lnTo>
                    <a:pt x="3274609" y="312755"/>
                  </a:lnTo>
                  <a:lnTo>
                    <a:pt x="3252528" y="349590"/>
                  </a:lnTo>
                  <a:lnTo>
                    <a:pt x="3223684" y="381410"/>
                  </a:lnTo>
                  <a:lnTo>
                    <a:pt x="3189189" y="406990"/>
                  </a:lnTo>
                  <a:lnTo>
                    <a:pt x="3150363" y="425350"/>
                  </a:lnTo>
                  <a:lnTo>
                    <a:pt x="3108705" y="435782"/>
                  </a:lnTo>
                  <a:lnTo>
                    <a:pt x="3076575" y="43815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5225" y="2105024"/>
              <a:ext cx="3286125" cy="4286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510462" y="2100262"/>
              <a:ext cx="3295650" cy="438150"/>
            </a:xfrm>
            <a:custGeom>
              <a:avLst/>
              <a:gdLst/>
              <a:ahLst/>
              <a:cxnLst/>
              <a:rect l="l" t="t" r="r" b="b"/>
              <a:pathLst>
                <a:path w="3295650" h="438150">
                  <a:moveTo>
                    <a:pt x="0" y="219075"/>
                  </a:moveTo>
                  <a:lnTo>
                    <a:pt x="0" y="211902"/>
                  </a:lnTo>
                  <a:lnTo>
                    <a:pt x="352" y="204739"/>
                  </a:lnTo>
                  <a:lnTo>
                    <a:pt x="1057" y="197605"/>
                  </a:lnTo>
                  <a:lnTo>
                    <a:pt x="1762" y="190461"/>
                  </a:lnTo>
                  <a:lnTo>
                    <a:pt x="2809" y="183375"/>
                  </a:lnTo>
                  <a:lnTo>
                    <a:pt x="4210" y="176336"/>
                  </a:lnTo>
                  <a:lnTo>
                    <a:pt x="5610" y="169297"/>
                  </a:lnTo>
                  <a:lnTo>
                    <a:pt x="19421" y="128606"/>
                  </a:lnTo>
                  <a:lnTo>
                    <a:pt x="40909" y="91401"/>
                  </a:lnTo>
                  <a:lnTo>
                    <a:pt x="49730" y="80095"/>
                  </a:lnTo>
                  <a:lnTo>
                    <a:pt x="54282" y="74552"/>
                  </a:lnTo>
                  <a:lnTo>
                    <a:pt x="59093" y="69237"/>
                  </a:lnTo>
                  <a:lnTo>
                    <a:pt x="64169" y="64169"/>
                  </a:lnTo>
                  <a:lnTo>
                    <a:pt x="69237" y="59093"/>
                  </a:lnTo>
                  <a:lnTo>
                    <a:pt x="103327" y="32937"/>
                  </a:lnTo>
                  <a:lnTo>
                    <a:pt x="115804" y="25869"/>
                  </a:lnTo>
                  <a:lnTo>
                    <a:pt x="122129" y="22488"/>
                  </a:lnTo>
                  <a:lnTo>
                    <a:pt x="128606" y="19421"/>
                  </a:lnTo>
                  <a:lnTo>
                    <a:pt x="135235" y="16678"/>
                  </a:lnTo>
                  <a:lnTo>
                    <a:pt x="141865" y="13925"/>
                  </a:lnTo>
                  <a:lnTo>
                    <a:pt x="183375" y="2809"/>
                  </a:lnTo>
                  <a:lnTo>
                    <a:pt x="197605" y="1057"/>
                  </a:lnTo>
                  <a:lnTo>
                    <a:pt x="204739" y="352"/>
                  </a:lnTo>
                  <a:lnTo>
                    <a:pt x="211902" y="0"/>
                  </a:lnTo>
                  <a:lnTo>
                    <a:pt x="219075" y="0"/>
                  </a:lnTo>
                  <a:lnTo>
                    <a:pt x="3076575" y="0"/>
                  </a:lnTo>
                  <a:lnTo>
                    <a:pt x="3083747" y="0"/>
                  </a:lnTo>
                  <a:lnTo>
                    <a:pt x="3090910" y="352"/>
                  </a:lnTo>
                  <a:lnTo>
                    <a:pt x="3133305" y="7353"/>
                  </a:lnTo>
                  <a:lnTo>
                    <a:pt x="3173520" y="22488"/>
                  </a:lnTo>
                  <a:lnTo>
                    <a:pt x="3179845" y="25869"/>
                  </a:lnTo>
                  <a:lnTo>
                    <a:pt x="3186179" y="29251"/>
                  </a:lnTo>
                  <a:lnTo>
                    <a:pt x="3221097" y="54282"/>
                  </a:lnTo>
                  <a:lnTo>
                    <a:pt x="3231480" y="64169"/>
                  </a:lnTo>
                  <a:lnTo>
                    <a:pt x="3236556" y="69237"/>
                  </a:lnTo>
                  <a:lnTo>
                    <a:pt x="3241367" y="74552"/>
                  </a:lnTo>
                  <a:lnTo>
                    <a:pt x="3245919" y="80095"/>
                  </a:lnTo>
                  <a:lnTo>
                    <a:pt x="3250472" y="85639"/>
                  </a:lnTo>
                  <a:lnTo>
                    <a:pt x="3269780" y="115804"/>
                  </a:lnTo>
                  <a:lnTo>
                    <a:pt x="3273161" y="122129"/>
                  </a:lnTo>
                  <a:lnTo>
                    <a:pt x="3286210" y="155476"/>
                  </a:lnTo>
                  <a:lnTo>
                    <a:pt x="3288296" y="162344"/>
                  </a:lnTo>
                  <a:lnTo>
                    <a:pt x="3290039" y="169297"/>
                  </a:lnTo>
                  <a:lnTo>
                    <a:pt x="3291439" y="176336"/>
                  </a:lnTo>
                  <a:lnTo>
                    <a:pt x="3292840" y="183375"/>
                  </a:lnTo>
                  <a:lnTo>
                    <a:pt x="3293887" y="190461"/>
                  </a:lnTo>
                  <a:lnTo>
                    <a:pt x="3294592" y="197605"/>
                  </a:lnTo>
                  <a:lnTo>
                    <a:pt x="3295297" y="204739"/>
                  </a:lnTo>
                  <a:lnTo>
                    <a:pt x="3295650" y="211902"/>
                  </a:lnTo>
                  <a:lnTo>
                    <a:pt x="3295650" y="219075"/>
                  </a:lnTo>
                  <a:lnTo>
                    <a:pt x="3295650" y="226247"/>
                  </a:lnTo>
                  <a:lnTo>
                    <a:pt x="3295297" y="233410"/>
                  </a:lnTo>
                  <a:lnTo>
                    <a:pt x="3294592" y="240544"/>
                  </a:lnTo>
                  <a:lnTo>
                    <a:pt x="3293887" y="247688"/>
                  </a:lnTo>
                  <a:lnTo>
                    <a:pt x="3292840" y="254774"/>
                  </a:lnTo>
                  <a:lnTo>
                    <a:pt x="3291439" y="261813"/>
                  </a:lnTo>
                  <a:lnTo>
                    <a:pt x="3290039" y="268852"/>
                  </a:lnTo>
                  <a:lnTo>
                    <a:pt x="3288296" y="275805"/>
                  </a:lnTo>
                  <a:lnTo>
                    <a:pt x="3286210" y="282673"/>
                  </a:lnTo>
                  <a:lnTo>
                    <a:pt x="3284134" y="289531"/>
                  </a:lnTo>
                  <a:lnTo>
                    <a:pt x="3266398" y="328669"/>
                  </a:lnTo>
                  <a:lnTo>
                    <a:pt x="3245919" y="358054"/>
                  </a:lnTo>
                  <a:lnTo>
                    <a:pt x="3241367" y="363597"/>
                  </a:lnTo>
                  <a:lnTo>
                    <a:pt x="3236556" y="368912"/>
                  </a:lnTo>
                  <a:lnTo>
                    <a:pt x="3231480" y="373980"/>
                  </a:lnTo>
                  <a:lnTo>
                    <a:pt x="3226412" y="379056"/>
                  </a:lnTo>
                  <a:lnTo>
                    <a:pt x="3192322" y="405212"/>
                  </a:lnTo>
                  <a:lnTo>
                    <a:pt x="3153784" y="424214"/>
                  </a:lnTo>
                  <a:lnTo>
                    <a:pt x="3112274" y="435340"/>
                  </a:lnTo>
                  <a:lnTo>
                    <a:pt x="3083747" y="438150"/>
                  </a:lnTo>
                  <a:lnTo>
                    <a:pt x="3076575" y="438150"/>
                  </a:lnTo>
                  <a:lnTo>
                    <a:pt x="219075" y="438150"/>
                  </a:lnTo>
                  <a:lnTo>
                    <a:pt x="211902" y="438150"/>
                  </a:lnTo>
                  <a:lnTo>
                    <a:pt x="204739" y="437797"/>
                  </a:lnTo>
                  <a:lnTo>
                    <a:pt x="197605" y="437092"/>
                  </a:lnTo>
                  <a:lnTo>
                    <a:pt x="190461" y="436387"/>
                  </a:lnTo>
                  <a:lnTo>
                    <a:pt x="183375" y="435340"/>
                  </a:lnTo>
                  <a:lnTo>
                    <a:pt x="176336" y="433939"/>
                  </a:lnTo>
                  <a:lnTo>
                    <a:pt x="169297" y="432539"/>
                  </a:lnTo>
                  <a:lnTo>
                    <a:pt x="128606" y="418728"/>
                  </a:lnTo>
                  <a:lnTo>
                    <a:pt x="91401" y="397240"/>
                  </a:lnTo>
                  <a:lnTo>
                    <a:pt x="64169" y="373980"/>
                  </a:lnTo>
                  <a:lnTo>
                    <a:pt x="59093" y="368912"/>
                  </a:lnTo>
                  <a:lnTo>
                    <a:pt x="54282" y="363597"/>
                  </a:lnTo>
                  <a:lnTo>
                    <a:pt x="49730" y="358054"/>
                  </a:lnTo>
                  <a:lnTo>
                    <a:pt x="45177" y="352510"/>
                  </a:lnTo>
                  <a:lnTo>
                    <a:pt x="22488" y="316020"/>
                  </a:lnTo>
                  <a:lnTo>
                    <a:pt x="7353" y="275805"/>
                  </a:lnTo>
                  <a:lnTo>
                    <a:pt x="4210" y="261813"/>
                  </a:lnTo>
                  <a:lnTo>
                    <a:pt x="2809" y="254774"/>
                  </a:lnTo>
                  <a:lnTo>
                    <a:pt x="1762" y="247688"/>
                  </a:lnTo>
                  <a:lnTo>
                    <a:pt x="1057" y="240544"/>
                  </a:lnTo>
                  <a:lnTo>
                    <a:pt x="352" y="233410"/>
                  </a:lnTo>
                  <a:lnTo>
                    <a:pt x="0" y="226247"/>
                  </a:lnTo>
                  <a:lnTo>
                    <a:pt x="0" y="219075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40937" y="2166715"/>
            <a:ext cx="2983865" cy="18954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140"/>
              </a:spcBef>
            </a:pPr>
            <a:r>
              <a:rPr sz="1700" dirty="0">
                <a:solidFill>
                  <a:srgbClr val="384653"/>
                </a:solidFill>
                <a:latin typeface="Verdana"/>
                <a:cs typeface="Verdana"/>
              </a:rPr>
              <a:t>3</a:t>
            </a:r>
            <a:endParaRPr sz="1700">
              <a:latin typeface="Verdana"/>
              <a:cs typeface="Verdana"/>
            </a:endParaRPr>
          </a:p>
          <a:p>
            <a:pPr marL="12700" marR="165100">
              <a:lnSpc>
                <a:spcPct val="107800"/>
              </a:lnSpc>
              <a:spcBef>
                <a:spcPts val="1670"/>
              </a:spcBef>
            </a:pPr>
            <a:r>
              <a:rPr sz="1450" spc="-80" dirty="0">
                <a:solidFill>
                  <a:srgbClr val="384653"/>
                </a:solidFill>
                <a:latin typeface="Verdana"/>
                <a:cs typeface="Verdana"/>
              </a:rPr>
              <a:t>Unplanned</a:t>
            </a:r>
            <a:r>
              <a:rPr sz="1450" spc="-1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90" dirty="0">
                <a:solidFill>
                  <a:srgbClr val="384653"/>
                </a:solidFill>
                <a:latin typeface="Verdana"/>
                <a:cs typeface="Verdana"/>
              </a:rPr>
              <a:t>Datacenter</a:t>
            </a:r>
            <a:r>
              <a:rPr sz="1450" spc="-1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384653"/>
                </a:solidFill>
                <a:latin typeface="Verdana"/>
                <a:cs typeface="Verdana"/>
              </a:rPr>
              <a:t>Outage</a:t>
            </a:r>
            <a:r>
              <a:rPr sz="1450" spc="-1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384653"/>
                </a:solidFill>
                <a:latin typeface="Verdana"/>
                <a:cs typeface="Verdana"/>
              </a:rPr>
              <a:t>(2 </a:t>
            </a:r>
            <a:r>
              <a:rPr sz="1450" spc="-70" dirty="0">
                <a:solidFill>
                  <a:srgbClr val="384653"/>
                </a:solidFill>
                <a:latin typeface="Verdana"/>
                <a:cs typeface="Verdana"/>
              </a:rPr>
              <a:t>Master</a:t>
            </a:r>
            <a:r>
              <a:rPr sz="145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65" dirty="0">
                <a:solidFill>
                  <a:srgbClr val="384653"/>
                </a:solidFill>
                <a:latin typeface="Verdana"/>
                <a:cs typeface="Verdana"/>
              </a:rPr>
              <a:t>Nodes</a:t>
            </a:r>
            <a:r>
              <a:rPr sz="145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384653"/>
                </a:solidFill>
                <a:latin typeface="Verdana"/>
                <a:cs typeface="Verdana"/>
              </a:rPr>
              <a:t>Impacted)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21400"/>
              </a:lnSpc>
              <a:spcBef>
                <a:spcPts val="515"/>
              </a:spcBef>
            </a:pP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remaining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'partner'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384653"/>
                </a:solidFill>
                <a:latin typeface="Trebuchet MS"/>
                <a:cs typeface="Trebuchet MS"/>
              </a:rPr>
              <a:t>site,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already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configured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384653"/>
                </a:solidFill>
                <a:latin typeface="Trebuchet MS"/>
                <a:cs typeface="Trebuchet MS"/>
              </a:rPr>
              <a:t>with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3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master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nodes,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will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continue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function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normally</a:t>
            </a:r>
            <a:r>
              <a:rPr sz="1150" spc="-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without</a:t>
            </a:r>
            <a:r>
              <a:rPr sz="1150" spc="-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additional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changes,</a:t>
            </a:r>
            <a:r>
              <a:rPr sz="1150" spc="3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ensuring</a:t>
            </a:r>
            <a:r>
              <a:rPr sz="1150" spc="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uninterrupted</a:t>
            </a:r>
            <a:r>
              <a:rPr sz="1150" spc="4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service.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7467" y="5659818"/>
            <a:ext cx="9498330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These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scenarios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underscore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importance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of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proper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node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sizing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shard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allocation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awareness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maintain</a:t>
            </a:r>
            <a:r>
              <a:rPr sz="1150" spc="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cluster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84653"/>
                </a:solidFill>
                <a:latin typeface="Trebuchet MS"/>
                <a:cs typeface="Trebuchet MS"/>
              </a:rPr>
              <a:t>health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384653"/>
                </a:solidFill>
                <a:latin typeface="Trebuchet MS"/>
                <a:cs typeface="Trebuchet MS"/>
              </a:rPr>
              <a:t>data</a:t>
            </a:r>
            <a:r>
              <a:rPr sz="11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84653"/>
                </a:solidFill>
                <a:latin typeface="Trebuchet MS"/>
                <a:cs typeface="Trebuchet MS"/>
              </a:rPr>
              <a:t>availability.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6429375"/>
                </a:moveTo>
                <a:lnTo>
                  <a:pt x="0" y="6429375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29375"/>
                </a:lnTo>
                <a:close/>
              </a:path>
            </a:pathLst>
          </a:custGeom>
          <a:solidFill>
            <a:srgbClr val="F9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7466" y="670528"/>
            <a:ext cx="1983739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45" dirty="0">
                <a:solidFill>
                  <a:srgbClr val="2D3B4E"/>
                </a:solidFill>
                <a:latin typeface="Verdana"/>
                <a:cs typeface="Verdana"/>
              </a:rPr>
              <a:t>Migration</a:t>
            </a:r>
            <a:r>
              <a:rPr sz="1200" spc="-50" dirty="0">
                <a:solidFill>
                  <a:srgbClr val="2D3B4E"/>
                </a:solidFill>
                <a:latin typeface="Verdana"/>
                <a:cs typeface="Verdana"/>
              </a:rPr>
              <a:t> Milestones </a:t>
            </a:r>
            <a:r>
              <a:rPr sz="1200" dirty="0">
                <a:solidFill>
                  <a:srgbClr val="2D3B4E"/>
                </a:solidFill>
                <a:latin typeface="Verdana"/>
                <a:cs typeface="Verdana"/>
              </a:rPr>
              <a:t>&amp;</a:t>
            </a:r>
            <a:r>
              <a:rPr sz="1200" spc="-5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2D3B4E"/>
                </a:solidFill>
                <a:latin typeface="Verdana"/>
                <a:cs typeface="Verdana"/>
              </a:rPr>
              <a:t>Plan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7466" y="886936"/>
            <a:ext cx="7419340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spc="-105" dirty="0"/>
              <a:t>Phased</a:t>
            </a:r>
            <a:r>
              <a:rPr sz="2450" spc="-80" dirty="0"/>
              <a:t> </a:t>
            </a:r>
            <a:r>
              <a:rPr sz="2450" spc="-100" dirty="0"/>
              <a:t>Approach</a:t>
            </a:r>
            <a:r>
              <a:rPr sz="2450" spc="-75" dirty="0"/>
              <a:t> </a:t>
            </a:r>
            <a:r>
              <a:rPr sz="2450" spc="-120" dirty="0"/>
              <a:t>to</a:t>
            </a:r>
            <a:r>
              <a:rPr sz="2450" spc="-80" dirty="0"/>
              <a:t> </a:t>
            </a:r>
            <a:r>
              <a:rPr sz="2450" spc="-130" dirty="0"/>
              <a:t>Elasticsearch</a:t>
            </a:r>
            <a:r>
              <a:rPr sz="2450" spc="-80" dirty="0"/>
              <a:t> </a:t>
            </a:r>
            <a:r>
              <a:rPr sz="2450" spc="-110" dirty="0"/>
              <a:t>DC</a:t>
            </a:r>
            <a:r>
              <a:rPr sz="2450" spc="-75" dirty="0"/>
              <a:t> </a:t>
            </a:r>
            <a:r>
              <a:rPr sz="2450" spc="-165" dirty="0"/>
              <a:t>Exit</a:t>
            </a:r>
            <a:r>
              <a:rPr sz="2450" spc="-85" dirty="0"/>
              <a:t> </a:t>
            </a:r>
            <a:r>
              <a:rPr sz="2450" spc="-80" dirty="0"/>
              <a:t>Migration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607466" y="1431328"/>
            <a:ext cx="10017125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Elasticsearch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384653"/>
                </a:solidFill>
                <a:latin typeface="Trebuchet MS"/>
                <a:cs typeface="Trebuchet MS"/>
              </a:rPr>
              <a:t>DC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exit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migration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384653"/>
                </a:solidFill>
                <a:latin typeface="Trebuchet MS"/>
                <a:cs typeface="Trebuchet MS"/>
              </a:rPr>
              <a:t>will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follow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structured,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phased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approach,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beginning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on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February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384653"/>
                </a:solidFill>
                <a:latin typeface="Trebuchet MS"/>
                <a:cs typeface="Trebuchet MS"/>
              </a:rPr>
              <a:t>18,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2026,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targeting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 completion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by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September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384653"/>
                </a:solidFill>
                <a:latin typeface="Trebuchet MS"/>
                <a:cs typeface="Trebuchet MS"/>
              </a:rPr>
              <a:t>30,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2026.</a:t>
            </a:r>
            <a:r>
              <a:rPr sz="9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This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timeline</a:t>
            </a:r>
            <a:r>
              <a:rPr sz="950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ensures careful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planning,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execution,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 and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validation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for each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environment.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9125" y="3063701"/>
            <a:ext cx="10191750" cy="514350"/>
            <a:chOff x="619125" y="3063701"/>
            <a:chExt cx="10191750" cy="514350"/>
          </a:xfrm>
        </p:grpSpPr>
        <p:sp>
          <p:nvSpPr>
            <p:cNvPr id="7" name="object 7"/>
            <p:cNvSpPr/>
            <p:nvPr/>
          </p:nvSpPr>
          <p:spPr>
            <a:xfrm>
              <a:off x="619125" y="3063709"/>
              <a:ext cx="10191750" cy="394335"/>
            </a:xfrm>
            <a:custGeom>
              <a:avLst/>
              <a:gdLst/>
              <a:ahLst/>
              <a:cxnLst/>
              <a:rect l="l" t="t" r="r" b="b"/>
              <a:pathLst>
                <a:path w="10191750" h="394335">
                  <a:moveTo>
                    <a:pt x="2009762" y="6896"/>
                  </a:moveTo>
                  <a:lnTo>
                    <a:pt x="2008835" y="4648"/>
                  </a:lnTo>
                  <a:lnTo>
                    <a:pt x="2005114" y="927"/>
                  </a:lnTo>
                  <a:lnTo>
                    <a:pt x="2002866" y="0"/>
                  </a:lnTo>
                  <a:lnTo>
                    <a:pt x="1997608" y="0"/>
                  </a:lnTo>
                  <a:lnTo>
                    <a:pt x="1995360" y="927"/>
                  </a:lnTo>
                  <a:lnTo>
                    <a:pt x="1991652" y="4648"/>
                  </a:lnTo>
                  <a:lnTo>
                    <a:pt x="1990712" y="6896"/>
                  </a:lnTo>
                  <a:lnTo>
                    <a:pt x="1990712" y="361950"/>
                  </a:lnTo>
                  <a:lnTo>
                    <a:pt x="1990712" y="364578"/>
                  </a:lnTo>
                  <a:lnTo>
                    <a:pt x="1991652" y="366826"/>
                  </a:lnTo>
                  <a:lnTo>
                    <a:pt x="1995360" y="370535"/>
                  </a:lnTo>
                  <a:lnTo>
                    <a:pt x="1997608" y="371475"/>
                  </a:lnTo>
                  <a:lnTo>
                    <a:pt x="2002866" y="371475"/>
                  </a:lnTo>
                  <a:lnTo>
                    <a:pt x="2005114" y="370535"/>
                  </a:lnTo>
                  <a:lnTo>
                    <a:pt x="2008835" y="366826"/>
                  </a:lnTo>
                  <a:lnTo>
                    <a:pt x="2009762" y="364578"/>
                  </a:lnTo>
                  <a:lnTo>
                    <a:pt x="2009762" y="6896"/>
                  </a:lnTo>
                  <a:close/>
                </a:path>
                <a:path w="10191750" h="394335">
                  <a:moveTo>
                    <a:pt x="10191750" y="381723"/>
                  </a:moveTo>
                  <a:lnTo>
                    <a:pt x="10190810" y="379476"/>
                  </a:lnTo>
                  <a:lnTo>
                    <a:pt x="10187102" y="375754"/>
                  </a:lnTo>
                  <a:lnTo>
                    <a:pt x="10184854" y="374827"/>
                  </a:lnTo>
                  <a:lnTo>
                    <a:pt x="6896" y="374827"/>
                  </a:lnTo>
                  <a:lnTo>
                    <a:pt x="4648" y="375754"/>
                  </a:lnTo>
                  <a:lnTo>
                    <a:pt x="927" y="379476"/>
                  </a:lnTo>
                  <a:lnTo>
                    <a:pt x="0" y="381723"/>
                  </a:lnTo>
                  <a:lnTo>
                    <a:pt x="0" y="384352"/>
                  </a:lnTo>
                  <a:lnTo>
                    <a:pt x="0" y="386981"/>
                  </a:lnTo>
                  <a:lnTo>
                    <a:pt x="927" y="389229"/>
                  </a:lnTo>
                  <a:lnTo>
                    <a:pt x="4648" y="392938"/>
                  </a:lnTo>
                  <a:lnTo>
                    <a:pt x="6896" y="393877"/>
                  </a:lnTo>
                  <a:lnTo>
                    <a:pt x="10184854" y="393877"/>
                  </a:lnTo>
                  <a:lnTo>
                    <a:pt x="10187102" y="392938"/>
                  </a:lnTo>
                  <a:lnTo>
                    <a:pt x="10190810" y="389229"/>
                  </a:lnTo>
                  <a:lnTo>
                    <a:pt x="10191750" y="386981"/>
                  </a:lnTo>
                  <a:lnTo>
                    <a:pt x="10191750" y="381723"/>
                  </a:lnTo>
                  <a:close/>
                </a:path>
              </a:pathLst>
            </a:custGeom>
            <a:solidFill>
              <a:srgbClr val="BE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0785" y="3306588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28048" y="266700"/>
                  </a:moveTo>
                  <a:lnTo>
                    <a:pt x="38654" y="266700"/>
                  </a:lnTo>
                  <a:lnTo>
                    <a:pt x="30942" y="265992"/>
                  </a:lnTo>
                  <a:lnTo>
                    <a:pt x="707" y="235757"/>
                  </a:lnTo>
                  <a:lnTo>
                    <a:pt x="0" y="228045"/>
                  </a:lnTo>
                  <a:lnTo>
                    <a:pt x="0" y="38654"/>
                  </a:lnTo>
                  <a:lnTo>
                    <a:pt x="23816" y="2830"/>
                  </a:lnTo>
                  <a:lnTo>
                    <a:pt x="38654" y="0"/>
                  </a:lnTo>
                  <a:lnTo>
                    <a:pt x="228048" y="0"/>
                  </a:lnTo>
                  <a:lnTo>
                    <a:pt x="263869" y="23814"/>
                  </a:lnTo>
                  <a:lnTo>
                    <a:pt x="266700" y="38654"/>
                  </a:lnTo>
                  <a:lnTo>
                    <a:pt x="266700" y="228045"/>
                  </a:lnTo>
                  <a:lnTo>
                    <a:pt x="242886" y="263869"/>
                  </a:lnTo>
                  <a:lnTo>
                    <a:pt x="228048" y="26670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5550" y="3311351"/>
              <a:ext cx="257175" cy="2571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90787" y="3306587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28047"/>
                  </a:moveTo>
                  <a:lnTo>
                    <a:pt x="0" y="38652"/>
                  </a:lnTo>
                  <a:lnTo>
                    <a:pt x="0" y="33528"/>
                  </a:lnTo>
                  <a:lnTo>
                    <a:pt x="981" y="28594"/>
                  </a:lnTo>
                  <a:lnTo>
                    <a:pt x="2943" y="23860"/>
                  </a:lnTo>
                  <a:lnTo>
                    <a:pt x="4905" y="19126"/>
                  </a:lnTo>
                  <a:lnTo>
                    <a:pt x="7696" y="14944"/>
                  </a:lnTo>
                  <a:lnTo>
                    <a:pt x="11325" y="11325"/>
                  </a:lnTo>
                  <a:lnTo>
                    <a:pt x="14944" y="7696"/>
                  </a:lnTo>
                  <a:lnTo>
                    <a:pt x="19126" y="4905"/>
                  </a:lnTo>
                  <a:lnTo>
                    <a:pt x="23860" y="2943"/>
                  </a:lnTo>
                  <a:lnTo>
                    <a:pt x="28594" y="981"/>
                  </a:lnTo>
                  <a:lnTo>
                    <a:pt x="33528" y="0"/>
                  </a:lnTo>
                  <a:lnTo>
                    <a:pt x="38652" y="0"/>
                  </a:lnTo>
                  <a:lnTo>
                    <a:pt x="228047" y="0"/>
                  </a:lnTo>
                  <a:lnTo>
                    <a:pt x="233172" y="0"/>
                  </a:lnTo>
                  <a:lnTo>
                    <a:pt x="238105" y="981"/>
                  </a:lnTo>
                  <a:lnTo>
                    <a:pt x="242839" y="2943"/>
                  </a:lnTo>
                  <a:lnTo>
                    <a:pt x="247573" y="4905"/>
                  </a:lnTo>
                  <a:lnTo>
                    <a:pt x="251755" y="7696"/>
                  </a:lnTo>
                  <a:lnTo>
                    <a:pt x="255374" y="11325"/>
                  </a:lnTo>
                  <a:lnTo>
                    <a:pt x="259003" y="14944"/>
                  </a:lnTo>
                  <a:lnTo>
                    <a:pt x="261794" y="19126"/>
                  </a:lnTo>
                  <a:lnTo>
                    <a:pt x="263756" y="23860"/>
                  </a:lnTo>
                  <a:lnTo>
                    <a:pt x="265718" y="28594"/>
                  </a:lnTo>
                  <a:lnTo>
                    <a:pt x="266700" y="33528"/>
                  </a:lnTo>
                  <a:lnTo>
                    <a:pt x="266700" y="38652"/>
                  </a:lnTo>
                  <a:lnTo>
                    <a:pt x="266700" y="228047"/>
                  </a:lnTo>
                  <a:lnTo>
                    <a:pt x="266700" y="233172"/>
                  </a:lnTo>
                  <a:lnTo>
                    <a:pt x="265718" y="238105"/>
                  </a:lnTo>
                  <a:lnTo>
                    <a:pt x="263756" y="242839"/>
                  </a:lnTo>
                  <a:lnTo>
                    <a:pt x="261794" y="247573"/>
                  </a:lnTo>
                  <a:lnTo>
                    <a:pt x="259003" y="251755"/>
                  </a:lnTo>
                  <a:lnTo>
                    <a:pt x="255374" y="255384"/>
                  </a:lnTo>
                  <a:lnTo>
                    <a:pt x="251755" y="259003"/>
                  </a:lnTo>
                  <a:lnTo>
                    <a:pt x="247573" y="261794"/>
                  </a:lnTo>
                  <a:lnTo>
                    <a:pt x="242839" y="263756"/>
                  </a:lnTo>
                  <a:lnTo>
                    <a:pt x="238105" y="265718"/>
                  </a:lnTo>
                  <a:lnTo>
                    <a:pt x="233172" y="266700"/>
                  </a:lnTo>
                  <a:lnTo>
                    <a:pt x="228047" y="266700"/>
                  </a:lnTo>
                  <a:lnTo>
                    <a:pt x="38652" y="266700"/>
                  </a:lnTo>
                  <a:lnTo>
                    <a:pt x="33528" y="266700"/>
                  </a:lnTo>
                  <a:lnTo>
                    <a:pt x="28594" y="265718"/>
                  </a:lnTo>
                  <a:lnTo>
                    <a:pt x="23860" y="263756"/>
                  </a:lnTo>
                  <a:lnTo>
                    <a:pt x="19126" y="261794"/>
                  </a:lnTo>
                  <a:lnTo>
                    <a:pt x="14944" y="259003"/>
                  </a:lnTo>
                  <a:lnTo>
                    <a:pt x="11325" y="255384"/>
                  </a:lnTo>
                  <a:lnTo>
                    <a:pt x="7696" y="251755"/>
                  </a:lnTo>
                  <a:lnTo>
                    <a:pt x="4905" y="247573"/>
                  </a:lnTo>
                  <a:lnTo>
                    <a:pt x="2943" y="242839"/>
                  </a:lnTo>
                  <a:lnTo>
                    <a:pt x="981" y="238105"/>
                  </a:lnTo>
                  <a:lnTo>
                    <a:pt x="0" y="233172"/>
                  </a:lnTo>
                  <a:lnTo>
                    <a:pt x="0" y="228047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47589" y="3301193"/>
            <a:ext cx="1466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50" dirty="0">
                <a:solidFill>
                  <a:srgbClr val="384653"/>
                </a:solidFill>
                <a:latin typeface="Verdana"/>
                <a:cs typeface="Verdana"/>
              </a:rPr>
              <a:t>1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3238" y="1788246"/>
            <a:ext cx="3476625" cy="114490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200" spc="-65" dirty="0">
                <a:solidFill>
                  <a:srgbClr val="384653"/>
                </a:solidFill>
                <a:latin typeface="Verdana"/>
                <a:cs typeface="Verdana"/>
              </a:rPr>
              <a:t>Feb</a:t>
            </a:r>
            <a:r>
              <a:rPr sz="1200" spc="-3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18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-</a:t>
            </a:r>
            <a:r>
              <a:rPr sz="1200" spc="-3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84653"/>
                </a:solidFill>
                <a:latin typeface="Verdana"/>
                <a:cs typeface="Verdana"/>
              </a:rPr>
              <a:t>Mar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384653"/>
                </a:solidFill>
                <a:latin typeface="Verdana"/>
                <a:cs typeface="Verdana"/>
              </a:rPr>
              <a:t>31,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Phase</a:t>
            </a:r>
            <a:r>
              <a:rPr sz="950" b="1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50" dirty="0">
                <a:solidFill>
                  <a:srgbClr val="384653"/>
                </a:solidFill>
                <a:latin typeface="Trebuchet MS"/>
                <a:cs typeface="Trebuchet MS"/>
              </a:rPr>
              <a:t>1:</a:t>
            </a:r>
            <a:r>
              <a:rPr sz="950" b="1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20" dirty="0">
                <a:solidFill>
                  <a:srgbClr val="384653"/>
                </a:solidFill>
                <a:latin typeface="Trebuchet MS"/>
                <a:cs typeface="Trebuchet MS"/>
              </a:rPr>
              <a:t>Development</a:t>
            </a:r>
            <a:r>
              <a:rPr sz="950" b="1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20" dirty="0">
                <a:solidFill>
                  <a:srgbClr val="384653"/>
                </a:solidFill>
                <a:latin typeface="Trebuchet MS"/>
                <a:cs typeface="Trebuchet MS"/>
              </a:rPr>
              <a:t>(DEV)</a:t>
            </a:r>
            <a:endParaRPr sz="9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Migration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of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DEV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environment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Sterling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384653"/>
                </a:solidFill>
                <a:latin typeface="Trebuchet MS"/>
                <a:cs typeface="Trebuchet MS"/>
              </a:rPr>
              <a:t>DC.</a:t>
            </a:r>
            <a:endParaRPr sz="950">
              <a:latin typeface="Trebuchet MS"/>
              <a:cs typeface="Trebuchet MS"/>
            </a:endParaRPr>
          </a:p>
          <a:p>
            <a:pPr marL="12700" marR="5080" algn="ctr">
              <a:lnSpc>
                <a:spcPct val="111800"/>
              </a:lnSpc>
              <a:spcBef>
                <a:spcPts val="525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Key</a:t>
            </a:r>
            <a:r>
              <a:rPr sz="950" spc="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Activities:</a:t>
            </a:r>
            <a:r>
              <a:rPr sz="950" spc="6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Assessment,</a:t>
            </a:r>
            <a:r>
              <a:rPr sz="950" spc="6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New</a:t>
            </a:r>
            <a:r>
              <a:rPr sz="950" spc="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Cluster</a:t>
            </a:r>
            <a:r>
              <a:rPr sz="950" spc="6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Setup,</a:t>
            </a:r>
            <a:r>
              <a:rPr sz="950" spc="6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Data</a:t>
            </a:r>
            <a:r>
              <a:rPr sz="950" spc="6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Migration, Testing.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43425" y="3298997"/>
            <a:ext cx="276225" cy="514350"/>
            <a:chOff x="4543425" y="3298997"/>
            <a:chExt cx="276225" cy="514350"/>
          </a:xfrm>
        </p:grpSpPr>
        <p:sp>
          <p:nvSpPr>
            <p:cNvPr id="14" name="object 14"/>
            <p:cNvSpPr/>
            <p:nvPr/>
          </p:nvSpPr>
          <p:spPr>
            <a:xfrm>
              <a:off x="4676774" y="3432348"/>
              <a:ext cx="19050" cy="381000"/>
            </a:xfrm>
            <a:custGeom>
              <a:avLst/>
              <a:gdLst/>
              <a:ahLst/>
              <a:cxnLst/>
              <a:rect l="l" t="t" r="r" b="b"/>
              <a:pathLst>
                <a:path w="19050" h="381000">
                  <a:moveTo>
                    <a:pt x="12153" y="381000"/>
                  </a:moveTo>
                  <a:lnTo>
                    <a:pt x="6896" y="381000"/>
                  </a:lnTo>
                  <a:lnTo>
                    <a:pt x="4648" y="380066"/>
                  </a:lnTo>
                  <a:lnTo>
                    <a:pt x="933" y="376351"/>
                  </a:lnTo>
                  <a:lnTo>
                    <a:pt x="0" y="374103"/>
                  </a:lnTo>
                  <a:lnTo>
                    <a:pt x="0" y="371475"/>
                  </a:lnTo>
                  <a:lnTo>
                    <a:pt x="0" y="6896"/>
                  </a:lnTo>
                  <a:lnTo>
                    <a:pt x="933" y="4648"/>
                  </a:lnTo>
                  <a:lnTo>
                    <a:pt x="4648" y="933"/>
                  </a:lnTo>
                  <a:lnTo>
                    <a:pt x="6896" y="0"/>
                  </a:lnTo>
                  <a:lnTo>
                    <a:pt x="12153" y="0"/>
                  </a:lnTo>
                  <a:lnTo>
                    <a:pt x="14401" y="933"/>
                  </a:lnTo>
                  <a:lnTo>
                    <a:pt x="18116" y="4648"/>
                  </a:lnTo>
                  <a:lnTo>
                    <a:pt x="19050" y="6896"/>
                  </a:lnTo>
                  <a:lnTo>
                    <a:pt x="19050" y="374103"/>
                  </a:lnTo>
                  <a:lnTo>
                    <a:pt x="18116" y="376351"/>
                  </a:lnTo>
                  <a:lnTo>
                    <a:pt x="14401" y="380066"/>
                  </a:lnTo>
                  <a:lnTo>
                    <a:pt x="12153" y="381000"/>
                  </a:lnTo>
                  <a:close/>
                </a:path>
              </a:pathLst>
            </a:custGeom>
            <a:solidFill>
              <a:srgbClr val="BE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48189" y="330376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28045" y="266700"/>
                  </a:moveTo>
                  <a:lnTo>
                    <a:pt x="38651" y="266700"/>
                  </a:lnTo>
                  <a:lnTo>
                    <a:pt x="30939" y="265992"/>
                  </a:lnTo>
                  <a:lnTo>
                    <a:pt x="706" y="235757"/>
                  </a:lnTo>
                  <a:lnTo>
                    <a:pt x="0" y="228045"/>
                  </a:lnTo>
                  <a:lnTo>
                    <a:pt x="0" y="38654"/>
                  </a:lnTo>
                  <a:lnTo>
                    <a:pt x="23813" y="2830"/>
                  </a:lnTo>
                  <a:lnTo>
                    <a:pt x="38651" y="0"/>
                  </a:lnTo>
                  <a:lnTo>
                    <a:pt x="228045" y="0"/>
                  </a:lnTo>
                  <a:lnTo>
                    <a:pt x="263868" y="23815"/>
                  </a:lnTo>
                  <a:lnTo>
                    <a:pt x="266700" y="38654"/>
                  </a:lnTo>
                  <a:lnTo>
                    <a:pt x="266700" y="228045"/>
                  </a:lnTo>
                  <a:lnTo>
                    <a:pt x="242883" y="263869"/>
                  </a:lnTo>
                  <a:lnTo>
                    <a:pt x="228045" y="26670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950" y="3308523"/>
              <a:ext cx="257175" cy="2571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48187" y="330375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28047"/>
                  </a:moveTo>
                  <a:lnTo>
                    <a:pt x="0" y="38652"/>
                  </a:lnTo>
                  <a:lnTo>
                    <a:pt x="0" y="33528"/>
                  </a:lnTo>
                  <a:lnTo>
                    <a:pt x="981" y="28594"/>
                  </a:lnTo>
                  <a:lnTo>
                    <a:pt x="2943" y="23860"/>
                  </a:lnTo>
                  <a:lnTo>
                    <a:pt x="4905" y="19126"/>
                  </a:lnTo>
                  <a:lnTo>
                    <a:pt x="7696" y="14944"/>
                  </a:lnTo>
                  <a:lnTo>
                    <a:pt x="11325" y="11325"/>
                  </a:lnTo>
                  <a:lnTo>
                    <a:pt x="14944" y="7696"/>
                  </a:lnTo>
                  <a:lnTo>
                    <a:pt x="19126" y="4905"/>
                  </a:lnTo>
                  <a:lnTo>
                    <a:pt x="23860" y="2943"/>
                  </a:lnTo>
                  <a:lnTo>
                    <a:pt x="28594" y="981"/>
                  </a:lnTo>
                  <a:lnTo>
                    <a:pt x="33528" y="0"/>
                  </a:lnTo>
                  <a:lnTo>
                    <a:pt x="38652" y="0"/>
                  </a:lnTo>
                  <a:lnTo>
                    <a:pt x="228047" y="0"/>
                  </a:lnTo>
                  <a:lnTo>
                    <a:pt x="233172" y="0"/>
                  </a:lnTo>
                  <a:lnTo>
                    <a:pt x="238105" y="981"/>
                  </a:lnTo>
                  <a:lnTo>
                    <a:pt x="242839" y="2943"/>
                  </a:lnTo>
                  <a:lnTo>
                    <a:pt x="247573" y="4905"/>
                  </a:lnTo>
                  <a:lnTo>
                    <a:pt x="251755" y="7696"/>
                  </a:lnTo>
                  <a:lnTo>
                    <a:pt x="255374" y="11325"/>
                  </a:lnTo>
                  <a:lnTo>
                    <a:pt x="259003" y="14944"/>
                  </a:lnTo>
                  <a:lnTo>
                    <a:pt x="261794" y="19126"/>
                  </a:lnTo>
                  <a:lnTo>
                    <a:pt x="263756" y="23860"/>
                  </a:lnTo>
                  <a:lnTo>
                    <a:pt x="265718" y="28594"/>
                  </a:lnTo>
                  <a:lnTo>
                    <a:pt x="266700" y="33528"/>
                  </a:lnTo>
                  <a:lnTo>
                    <a:pt x="266700" y="38652"/>
                  </a:lnTo>
                  <a:lnTo>
                    <a:pt x="266700" y="228047"/>
                  </a:lnTo>
                  <a:lnTo>
                    <a:pt x="266700" y="233172"/>
                  </a:lnTo>
                  <a:lnTo>
                    <a:pt x="265718" y="238105"/>
                  </a:lnTo>
                  <a:lnTo>
                    <a:pt x="263756" y="242839"/>
                  </a:lnTo>
                  <a:lnTo>
                    <a:pt x="261794" y="247573"/>
                  </a:lnTo>
                  <a:lnTo>
                    <a:pt x="259003" y="251755"/>
                  </a:lnTo>
                  <a:lnTo>
                    <a:pt x="255374" y="255384"/>
                  </a:lnTo>
                  <a:lnTo>
                    <a:pt x="251755" y="259003"/>
                  </a:lnTo>
                  <a:lnTo>
                    <a:pt x="247573" y="261794"/>
                  </a:lnTo>
                  <a:lnTo>
                    <a:pt x="242839" y="263756"/>
                  </a:lnTo>
                  <a:lnTo>
                    <a:pt x="238105" y="265718"/>
                  </a:lnTo>
                  <a:lnTo>
                    <a:pt x="233172" y="266700"/>
                  </a:lnTo>
                  <a:lnTo>
                    <a:pt x="228047" y="266700"/>
                  </a:lnTo>
                  <a:lnTo>
                    <a:pt x="38652" y="266700"/>
                  </a:lnTo>
                  <a:lnTo>
                    <a:pt x="33528" y="266700"/>
                  </a:lnTo>
                  <a:lnTo>
                    <a:pt x="28594" y="265718"/>
                  </a:lnTo>
                  <a:lnTo>
                    <a:pt x="23860" y="263756"/>
                  </a:lnTo>
                  <a:lnTo>
                    <a:pt x="19126" y="261794"/>
                  </a:lnTo>
                  <a:lnTo>
                    <a:pt x="14944" y="259003"/>
                  </a:lnTo>
                  <a:lnTo>
                    <a:pt x="11325" y="255384"/>
                  </a:lnTo>
                  <a:lnTo>
                    <a:pt x="7696" y="251755"/>
                  </a:lnTo>
                  <a:lnTo>
                    <a:pt x="4905" y="247573"/>
                  </a:lnTo>
                  <a:lnTo>
                    <a:pt x="2943" y="242839"/>
                  </a:lnTo>
                  <a:lnTo>
                    <a:pt x="981" y="238105"/>
                  </a:lnTo>
                  <a:lnTo>
                    <a:pt x="0" y="233172"/>
                  </a:lnTo>
                  <a:lnTo>
                    <a:pt x="0" y="228047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610199" y="3298365"/>
            <a:ext cx="1466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50" dirty="0">
                <a:solidFill>
                  <a:srgbClr val="384653"/>
                </a:solidFill>
                <a:latin typeface="Verdana"/>
                <a:cs typeface="Verdana"/>
              </a:rPr>
              <a:t>2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3598" y="3826597"/>
            <a:ext cx="3361054" cy="114490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Apr</a:t>
            </a:r>
            <a:r>
              <a:rPr sz="1200" spc="-4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1</a:t>
            </a:r>
            <a:r>
              <a:rPr sz="1200" spc="-4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-</a:t>
            </a:r>
            <a:r>
              <a:rPr sz="1200" spc="-4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May</a:t>
            </a:r>
            <a:r>
              <a:rPr sz="1200" spc="-40" dirty="0">
                <a:solidFill>
                  <a:srgbClr val="384653"/>
                </a:solidFill>
                <a:latin typeface="Verdana"/>
                <a:cs typeface="Verdana"/>
              </a:rPr>
              <a:t> 15,</a:t>
            </a:r>
            <a:r>
              <a:rPr sz="1200" spc="-4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Phase</a:t>
            </a:r>
            <a:r>
              <a:rPr sz="950" b="1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50" dirty="0">
                <a:solidFill>
                  <a:srgbClr val="384653"/>
                </a:solidFill>
                <a:latin typeface="Trebuchet MS"/>
                <a:cs typeface="Trebuchet MS"/>
              </a:rPr>
              <a:t>2:</a:t>
            </a:r>
            <a:r>
              <a:rPr sz="950" b="1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System</a:t>
            </a:r>
            <a:r>
              <a:rPr sz="950" b="1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20" dirty="0">
                <a:solidFill>
                  <a:srgbClr val="384653"/>
                </a:solidFill>
                <a:latin typeface="Trebuchet MS"/>
                <a:cs typeface="Trebuchet MS"/>
              </a:rPr>
              <a:t>Integration</a:t>
            </a:r>
            <a:r>
              <a:rPr sz="950" b="1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Testing</a:t>
            </a:r>
            <a:r>
              <a:rPr sz="950" b="1" spc="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20" dirty="0">
                <a:solidFill>
                  <a:srgbClr val="384653"/>
                </a:solidFill>
                <a:latin typeface="Trebuchet MS"/>
                <a:cs typeface="Trebuchet MS"/>
              </a:rPr>
              <a:t>(SIT)</a:t>
            </a:r>
            <a:endParaRPr sz="9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Migration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of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the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SIT</a:t>
            </a:r>
            <a:r>
              <a:rPr sz="950" spc="-3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environment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Lewisville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384653"/>
                </a:solidFill>
                <a:latin typeface="Trebuchet MS"/>
                <a:cs typeface="Trebuchet MS"/>
              </a:rPr>
              <a:t>DC.</a:t>
            </a:r>
            <a:endParaRPr sz="950">
              <a:latin typeface="Trebuchet MS"/>
              <a:cs typeface="Trebuchet MS"/>
            </a:endParaRPr>
          </a:p>
          <a:p>
            <a:pPr marL="12700" marR="5080" algn="ctr">
              <a:lnSpc>
                <a:spcPct val="118400"/>
              </a:lnSpc>
              <a:spcBef>
                <a:spcPts val="450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Key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Activities: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New</a:t>
            </a:r>
            <a:r>
              <a:rPr sz="950" spc="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Cluster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Setup,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Data</a:t>
            </a:r>
            <a:r>
              <a:rPr sz="950" spc="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Migration,</a:t>
            </a:r>
            <a:r>
              <a:rPr sz="950" spc="1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Integration Testing.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10350" y="3063701"/>
            <a:ext cx="276225" cy="514350"/>
            <a:chOff x="6610350" y="3063701"/>
            <a:chExt cx="276225" cy="514350"/>
          </a:xfrm>
        </p:grpSpPr>
        <p:sp>
          <p:nvSpPr>
            <p:cNvPr id="21" name="object 21"/>
            <p:cNvSpPr/>
            <p:nvPr/>
          </p:nvSpPr>
          <p:spPr>
            <a:xfrm>
              <a:off x="6734174" y="3063701"/>
              <a:ext cx="19050" cy="371475"/>
            </a:xfrm>
            <a:custGeom>
              <a:avLst/>
              <a:gdLst/>
              <a:ahLst/>
              <a:cxnLst/>
              <a:rect l="l" t="t" r="r" b="b"/>
              <a:pathLst>
                <a:path w="19050" h="371475">
                  <a:moveTo>
                    <a:pt x="12153" y="371475"/>
                  </a:moveTo>
                  <a:lnTo>
                    <a:pt x="6896" y="371475"/>
                  </a:lnTo>
                  <a:lnTo>
                    <a:pt x="4648" y="370541"/>
                  </a:lnTo>
                  <a:lnTo>
                    <a:pt x="933" y="366826"/>
                  </a:lnTo>
                  <a:lnTo>
                    <a:pt x="0" y="364578"/>
                  </a:lnTo>
                  <a:lnTo>
                    <a:pt x="0" y="361950"/>
                  </a:lnTo>
                  <a:lnTo>
                    <a:pt x="0" y="6896"/>
                  </a:lnTo>
                  <a:lnTo>
                    <a:pt x="933" y="4648"/>
                  </a:lnTo>
                  <a:lnTo>
                    <a:pt x="4648" y="933"/>
                  </a:lnTo>
                  <a:lnTo>
                    <a:pt x="6896" y="0"/>
                  </a:lnTo>
                  <a:lnTo>
                    <a:pt x="12153" y="0"/>
                  </a:lnTo>
                  <a:lnTo>
                    <a:pt x="14401" y="933"/>
                  </a:lnTo>
                  <a:lnTo>
                    <a:pt x="18116" y="4648"/>
                  </a:lnTo>
                  <a:lnTo>
                    <a:pt x="19050" y="6896"/>
                  </a:lnTo>
                  <a:lnTo>
                    <a:pt x="19050" y="364578"/>
                  </a:lnTo>
                  <a:lnTo>
                    <a:pt x="18116" y="366826"/>
                  </a:lnTo>
                  <a:lnTo>
                    <a:pt x="14401" y="370541"/>
                  </a:lnTo>
                  <a:lnTo>
                    <a:pt x="12153" y="371475"/>
                  </a:lnTo>
                  <a:close/>
                </a:path>
              </a:pathLst>
            </a:custGeom>
            <a:solidFill>
              <a:srgbClr val="BE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15114" y="3306588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28045" y="266700"/>
                  </a:moveTo>
                  <a:lnTo>
                    <a:pt x="38651" y="266700"/>
                  </a:lnTo>
                  <a:lnTo>
                    <a:pt x="30939" y="265992"/>
                  </a:lnTo>
                  <a:lnTo>
                    <a:pt x="705" y="235757"/>
                  </a:lnTo>
                  <a:lnTo>
                    <a:pt x="0" y="228045"/>
                  </a:lnTo>
                  <a:lnTo>
                    <a:pt x="0" y="38654"/>
                  </a:lnTo>
                  <a:lnTo>
                    <a:pt x="23813" y="2830"/>
                  </a:lnTo>
                  <a:lnTo>
                    <a:pt x="38651" y="0"/>
                  </a:lnTo>
                  <a:lnTo>
                    <a:pt x="228045" y="0"/>
                  </a:lnTo>
                  <a:lnTo>
                    <a:pt x="263868" y="23814"/>
                  </a:lnTo>
                  <a:lnTo>
                    <a:pt x="266700" y="38654"/>
                  </a:lnTo>
                  <a:lnTo>
                    <a:pt x="266700" y="228045"/>
                  </a:lnTo>
                  <a:lnTo>
                    <a:pt x="242883" y="263869"/>
                  </a:lnTo>
                  <a:lnTo>
                    <a:pt x="228045" y="26670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9875" y="3311351"/>
              <a:ext cx="257175" cy="2571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615112" y="3306587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28047"/>
                  </a:moveTo>
                  <a:lnTo>
                    <a:pt x="0" y="38652"/>
                  </a:lnTo>
                  <a:lnTo>
                    <a:pt x="0" y="33528"/>
                  </a:lnTo>
                  <a:lnTo>
                    <a:pt x="981" y="28594"/>
                  </a:lnTo>
                  <a:lnTo>
                    <a:pt x="2943" y="23860"/>
                  </a:lnTo>
                  <a:lnTo>
                    <a:pt x="4905" y="19126"/>
                  </a:lnTo>
                  <a:lnTo>
                    <a:pt x="7696" y="14944"/>
                  </a:lnTo>
                  <a:lnTo>
                    <a:pt x="11325" y="11325"/>
                  </a:lnTo>
                  <a:lnTo>
                    <a:pt x="14944" y="7696"/>
                  </a:lnTo>
                  <a:lnTo>
                    <a:pt x="19126" y="4905"/>
                  </a:lnTo>
                  <a:lnTo>
                    <a:pt x="23860" y="2943"/>
                  </a:lnTo>
                  <a:lnTo>
                    <a:pt x="28594" y="981"/>
                  </a:lnTo>
                  <a:lnTo>
                    <a:pt x="33528" y="0"/>
                  </a:lnTo>
                  <a:lnTo>
                    <a:pt x="38652" y="0"/>
                  </a:lnTo>
                  <a:lnTo>
                    <a:pt x="228047" y="0"/>
                  </a:lnTo>
                  <a:lnTo>
                    <a:pt x="233172" y="0"/>
                  </a:lnTo>
                  <a:lnTo>
                    <a:pt x="238105" y="981"/>
                  </a:lnTo>
                  <a:lnTo>
                    <a:pt x="242839" y="2943"/>
                  </a:lnTo>
                  <a:lnTo>
                    <a:pt x="247573" y="4905"/>
                  </a:lnTo>
                  <a:lnTo>
                    <a:pt x="251755" y="7696"/>
                  </a:lnTo>
                  <a:lnTo>
                    <a:pt x="255374" y="11325"/>
                  </a:lnTo>
                  <a:lnTo>
                    <a:pt x="259003" y="14944"/>
                  </a:lnTo>
                  <a:lnTo>
                    <a:pt x="261794" y="19126"/>
                  </a:lnTo>
                  <a:lnTo>
                    <a:pt x="263756" y="23860"/>
                  </a:lnTo>
                  <a:lnTo>
                    <a:pt x="265718" y="28594"/>
                  </a:lnTo>
                  <a:lnTo>
                    <a:pt x="266700" y="33528"/>
                  </a:lnTo>
                  <a:lnTo>
                    <a:pt x="266700" y="38652"/>
                  </a:lnTo>
                  <a:lnTo>
                    <a:pt x="266700" y="228047"/>
                  </a:lnTo>
                  <a:lnTo>
                    <a:pt x="266700" y="233172"/>
                  </a:lnTo>
                  <a:lnTo>
                    <a:pt x="265718" y="238105"/>
                  </a:lnTo>
                  <a:lnTo>
                    <a:pt x="263756" y="242839"/>
                  </a:lnTo>
                  <a:lnTo>
                    <a:pt x="261794" y="247573"/>
                  </a:lnTo>
                  <a:lnTo>
                    <a:pt x="259003" y="251755"/>
                  </a:lnTo>
                  <a:lnTo>
                    <a:pt x="255374" y="255384"/>
                  </a:lnTo>
                  <a:lnTo>
                    <a:pt x="251755" y="259003"/>
                  </a:lnTo>
                  <a:lnTo>
                    <a:pt x="247573" y="261794"/>
                  </a:lnTo>
                  <a:lnTo>
                    <a:pt x="242839" y="263756"/>
                  </a:lnTo>
                  <a:lnTo>
                    <a:pt x="238105" y="265718"/>
                  </a:lnTo>
                  <a:lnTo>
                    <a:pt x="233172" y="266700"/>
                  </a:lnTo>
                  <a:lnTo>
                    <a:pt x="228047" y="266700"/>
                  </a:lnTo>
                  <a:lnTo>
                    <a:pt x="38652" y="266700"/>
                  </a:lnTo>
                  <a:lnTo>
                    <a:pt x="33528" y="266700"/>
                  </a:lnTo>
                  <a:lnTo>
                    <a:pt x="28594" y="265718"/>
                  </a:lnTo>
                  <a:lnTo>
                    <a:pt x="23860" y="263756"/>
                  </a:lnTo>
                  <a:lnTo>
                    <a:pt x="19126" y="261794"/>
                  </a:lnTo>
                  <a:lnTo>
                    <a:pt x="14944" y="259003"/>
                  </a:lnTo>
                  <a:lnTo>
                    <a:pt x="11325" y="255384"/>
                  </a:lnTo>
                  <a:lnTo>
                    <a:pt x="7696" y="251755"/>
                  </a:lnTo>
                  <a:lnTo>
                    <a:pt x="4905" y="247573"/>
                  </a:lnTo>
                  <a:lnTo>
                    <a:pt x="2943" y="242839"/>
                  </a:lnTo>
                  <a:lnTo>
                    <a:pt x="981" y="238105"/>
                  </a:lnTo>
                  <a:lnTo>
                    <a:pt x="0" y="233172"/>
                  </a:lnTo>
                  <a:lnTo>
                    <a:pt x="0" y="228047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72957" y="3301193"/>
            <a:ext cx="1466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50" dirty="0">
                <a:solidFill>
                  <a:srgbClr val="384653"/>
                </a:solidFill>
                <a:latin typeface="Verdana"/>
                <a:cs typeface="Verdana"/>
              </a:rPr>
              <a:t>3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1931" y="1788246"/>
            <a:ext cx="3609975" cy="114490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May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16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-</a:t>
            </a:r>
            <a:r>
              <a:rPr sz="1200" spc="-2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90" dirty="0">
                <a:solidFill>
                  <a:srgbClr val="384653"/>
                </a:solidFill>
                <a:latin typeface="Verdana"/>
                <a:cs typeface="Verdana"/>
              </a:rPr>
              <a:t>Jul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384653"/>
                </a:solidFill>
                <a:latin typeface="Verdana"/>
                <a:cs typeface="Verdana"/>
              </a:rPr>
              <a:t>31,</a:t>
            </a:r>
            <a:r>
              <a:rPr sz="1200" spc="-2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marL="12700" marR="5080" indent="527050">
              <a:lnSpc>
                <a:spcPts val="1800"/>
              </a:lnSpc>
              <a:spcBef>
                <a:spcPts val="120"/>
              </a:spcBef>
            </a:pP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Phase </a:t>
            </a:r>
            <a:r>
              <a:rPr sz="950" b="1" spc="-50" dirty="0">
                <a:solidFill>
                  <a:srgbClr val="384653"/>
                </a:solidFill>
                <a:latin typeface="Trebuchet MS"/>
                <a:cs typeface="Trebuchet MS"/>
              </a:rPr>
              <a:t>3:</a:t>
            </a:r>
            <a:r>
              <a:rPr sz="950" b="1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User</a:t>
            </a:r>
            <a:r>
              <a:rPr sz="950" b="1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384653"/>
                </a:solidFill>
                <a:latin typeface="Trebuchet MS"/>
                <a:cs typeface="Trebuchet MS"/>
              </a:rPr>
              <a:t>Acceptance</a:t>
            </a:r>
            <a:r>
              <a:rPr sz="950" b="1" spc="-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Testing</a:t>
            </a:r>
            <a:r>
              <a:rPr sz="950" b="1" spc="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384653"/>
                </a:solidFill>
                <a:latin typeface="Trebuchet MS"/>
                <a:cs typeface="Trebuchet MS"/>
              </a:rPr>
              <a:t>(UAT/PTE)</a:t>
            </a:r>
            <a:r>
              <a:rPr sz="950" b="1" spc="50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Migration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of UAT/PTE environments to </a:t>
            </a:r>
            <a:r>
              <a:rPr sz="950" spc="75" dirty="0">
                <a:solidFill>
                  <a:srgbClr val="384653"/>
                </a:solidFill>
                <a:latin typeface="Trebuchet MS"/>
                <a:cs typeface="Trebuchet MS"/>
              </a:rPr>
              <a:t>Manassas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80" dirty="0">
                <a:solidFill>
                  <a:srgbClr val="384653"/>
                </a:solidFill>
                <a:latin typeface="Trebuchet MS"/>
                <a:cs typeface="Trebuchet MS"/>
              </a:rPr>
              <a:t>&amp;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 Garland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DCs.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Key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Activities: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New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Cluster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Setup,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Data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Migration,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Performance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384653"/>
                </a:solidFill>
                <a:latin typeface="Trebuchet MS"/>
                <a:cs typeface="Trebuchet MS"/>
              </a:rPr>
              <a:t>&amp;</a:t>
            </a:r>
            <a:endParaRPr sz="950">
              <a:latin typeface="Trebuchet MS"/>
              <a:cs typeface="Trebuchet MS"/>
            </a:endParaRPr>
          </a:p>
          <a:p>
            <a:pPr algn="ctr">
              <a:lnSpc>
                <a:spcPts val="1105"/>
              </a:lnSpc>
            </a:pP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UAT.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667750" y="3298997"/>
            <a:ext cx="276225" cy="514350"/>
            <a:chOff x="8667750" y="3298997"/>
            <a:chExt cx="276225" cy="514350"/>
          </a:xfrm>
        </p:grpSpPr>
        <p:sp>
          <p:nvSpPr>
            <p:cNvPr id="28" name="object 28"/>
            <p:cNvSpPr/>
            <p:nvPr/>
          </p:nvSpPr>
          <p:spPr>
            <a:xfrm>
              <a:off x="8801099" y="3432348"/>
              <a:ext cx="19050" cy="381000"/>
            </a:xfrm>
            <a:custGeom>
              <a:avLst/>
              <a:gdLst/>
              <a:ahLst/>
              <a:cxnLst/>
              <a:rect l="l" t="t" r="r" b="b"/>
              <a:pathLst>
                <a:path w="19050" h="381000">
                  <a:moveTo>
                    <a:pt x="12153" y="381000"/>
                  </a:moveTo>
                  <a:lnTo>
                    <a:pt x="6896" y="381000"/>
                  </a:lnTo>
                  <a:lnTo>
                    <a:pt x="4648" y="380066"/>
                  </a:lnTo>
                  <a:lnTo>
                    <a:pt x="933" y="376351"/>
                  </a:lnTo>
                  <a:lnTo>
                    <a:pt x="0" y="374103"/>
                  </a:lnTo>
                  <a:lnTo>
                    <a:pt x="0" y="371475"/>
                  </a:lnTo>
                  <a:lnTo>
                    <a:pt x="0" y="6896"/>
                  </a:lnTo>
                  <a:lnTo>
                    <a:pt x="933" y="4648"/>
                  </a:lnTo>
                  <a:lnTo>
                    <a:pt x="4648" y="933"/>
                  </a:lnTo>
                  <a:lnTo>
                    <a:pt x="6896" y="0"/>
                  </a:lnTo>
                  <a:lnTo>
                    <a:pt x="12153" y="0"/>
                  </a:lnTo>
                  <a:lnTo>
                    <a:pt x="14401" y="933"/>
                  </a:lnTo>
                  <a:lnTo>
                    <a:pt x="18116" y="4648"/>
                  </a:lnTo>
                  <a:lnTo>
                    <a:pt x="19050" y="6896"/>
                  </a:lnTo>
                  <a:lnTo>
                    <a:pt x="19050" y="374103"/>
                  </a:lnTo>
                  <a:lnTo>
                    <a:pt x="18116" y="376351"/>
                  </a:lnTo>
                  <a:lnTo>
                    <a:pt x="14401" y="380066"/>
                  </a:lnTo>
                  <a:lnTo>
                    <a:pt x="12153" y="381000"/>
                  </a:lnTo>
                  <a:close/>
                </a:path>
              </a:pathLst>
            </a:custGeom>
            <a:solidFill>
              <a:srgbClr val="BE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72514" y="330376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28045" y="266700"/>
                  </a:moveTo>
                  <a:lnTo>
                    <a:pt x="38651" y="266700"/>
                  </a:lnTo>
                  <a:lnTo>
                    <a:pt x="30939" y="265992"/>
                  </a:lnTo>
                  <a:lnTo>
                    <a:pt x="705" y="235757"/>
                  </a:lnTo>
                  <a:lnTo>
                    <a:pt x="0" y="228045"/>
                  </a:lnTo>
                  <a:lnTo>
                    <a:pt x="0" y="38654"/>
                  </a:lnTo>
                  <a:lnTo>
                    <a:pt x="23813" y="2830"/>
                  </a:lnTo>
                  <a:lnTo>
                    <a:pt x="38651" y="0"/>
                  </a:lnTo>
                  <a:lnTo>
                    <a:pt x="228045" y="0"/>
                  </a:lnTo>
                  <a:lnTo>
                    <a:pt x="263867" y="23815"/>
                  </a:lnTo>
                  <a:lnTo>
                    <a:pt x="266700" y="38654"/>
                  </a:lnTo>
                  <a:lnTo>
                    <a:pt x="266700" y="228045"/>
                  </a:lnTo>
                  <a:lnTo>
                    <a:pt x="242883" y="263869"/>
                  </a:lnTo>
                  <a:lnTo>
                    <a:pt x="228045" y="266700"/>
                  </a:lnTo>
                  <a:close/>
                </a:path>
              </a:pathLst>
            </a:custGeom>
            <a:solidFill>
              <a:srgbClr val="D9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7275" y="3308523"/>
              <a:ext cx="257175" cy="2571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672512" y="330375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28047"/>
                  </a:moveTo>
                  <a:lnTo>
                    <a:pt x="0" y="38652"/>
                  </a:lnTo>
                  <a:lnTo>
                    <a:pt x="0" y="33528"/>
                  </a:lnTo>
                  <a:lnTo>
                    <a:pt x="981" y="28594"/>
                  </a:lnTo>
                  <a:lnTo>
                    <a:pt x="2943" y="23860"/>
                  </a:lnTo>
                  <a:lnTo>
                    <a:pt x="4905" y="19126"/>
                  </a:lnTo>
                  <a:lnTo>
                    <a:pt x="7696" y="14944"/>
                  </a:lnTo>
                  <a:lnTo>
                    <a:pt x="11325" y="11325"/>
                  </a:lnTo>
                  <a:lnTo>
                    <a:pt x="14944" y="7696"/>
                  </a:lnTo>
                  <a:lnTo>
                    <a:pt x="19126" y="4905"/>
                  </a:lnTo>
                  <a:lnTo>
                    <a:pt x="23860" y="2943"/>
                  </a:lnTo>
                  <a:lnTo>
                    <a:pt x="28594" y="981"/>
                  </a:lnTo>
                  <a:lnTo>
                    <a:pt x="33528" y="0"/>
                  </a:lnTo>
                  <a:lnTo>
                    <a:pt x="38652" y="0"/>
                  </a:lnTo>
                  <a:lnTo>
                    <a:pt x="228047" y="0"/>
                  </a:lnTo>
                  <a:lnTo>
                    <a:pt x="233172" y="0"/>
                  </a:lnTo>
                  <a:lnTo>
                    <a:pt x="238105" y="981"/>
                  </a:lnTo>
                  <a:lnTo>
                    <a:pt x="242839" y="2943"/>
                  </a:lnTo>
                  <a:lnTo>
                    <a:pt x="247573" y="4905"/>
                  </a:lnTo>
                  <a:lnTo>
                    <a:pt x="251755" y="7696"/>
                  </a:lnTo>
                  <a:lnTo>
                    <a:pt x="255374" y="11325"/>
                  </a:lnTo>
                  <a:lnTo>
                    <a:pt x="259003" y="14944"/>
                  </a:lnTo>
                  <a:lnTo>
                    <a:pt x="261794" y="19126"/>
                  </a:lnTo>
                  <a:lnTo>
                    <a:pt x="263756" y="23860"/>
                  </a:lnTo>
                  <a:lnTo>
                    <a:pt x="265718" y="28594"/>
                  </a:lnTo>
                  <a:lnTo>
                    <a:pt x="266700" y="33528"/>
                  </a:lnTo>
                  <a:lnTo>
                    <a:pt x="266700" y="38652"/>
                  </a:lnTo>
                  <a:lnTo>
                    <a:pt x="266700" y="228047"/>
                  </a:lnTo>
                  <a:lnTo>
                    <a:pt x="266700" y="233172"/>
                  </a:lnTo>
                  <a:lnTo>
                    <a:pt x="265718" y="238105"/>
                  </a:lnTo>
                  <a:lnTo>
                    <a:pt x="263756" y="242839"/>
                  </a:lnTo>
                  <a:lnTo>
                    <a:pt x="261794" y="247573"/>
                  </a:lnTo>
                  <a:lnTo>
                    <a:pt x="259003" y="251755"/>
                  </a:lnTo>
                  <a:lnTo>
                    <a:pt x="255374" y="255384"/>
                  </a:lnTo>
                  <a:lnTo>
                    <a:pt x="251755" y="259003"/>
                  </a:lnTo>
                  <a:lnTo>
                    <a:pt x="247573" y="261794"/>
                  </a:lnTo>
                  <a:lnTo>
                    <a:pt x="242839" y="263756"/>
                  </a:lnTo>
                  <a:lnTo>
                    <a:pt x="238105" y="265718"/>
                  </a:lnTo>
                  <a:lnTo>
                    <a:pt x="233172" y="266700"/>
                  </a:lnTo>
                  <a:lnTo>
                    <a:pt x="228047" y="266700"/>
                  </a:lnTo>
                  <a:lnTo>
                    <a:pt x="38652" y="266700"/>
                  </a:lnTo>
                  <a:lnTo>
                    <a:pt x="33528" y="266700"/>
                  </a:lnTo>
                  <a:lnTo>
                    <a:pt x="28594" y="265718"/>
                  </a:lnTo>
                  <a:lnTo>
                    <a:pt x="23860" y="263756"/>
                  </a:lnTo>
                  <a:lnTo>
                    <a:pt x="19126" y="261794"/>
                  </a:lnTo>
                  <a:lnTo>
                    <a:pt x="14944" y="259003"/>
                  </a:lnTo>
                  <a:lnTo>
                    <a:pt x="11325" y="255384"/>
                  </a:lnTo>
                  <a:lnTo>
                    <a:pt x="7696" y="251755"/>
                  </a:lnTo>
                  <a:lnTo>
                    <a:pt x="4905" y="247573"/>
                  </a:lnTo>
                  <a:lnTo>
                    <a:pt x="2943" y="242839"/>
                  </a:lnTo>
                  <a:lnTo>
                    <a:pt x="981" y="238105"/>
                  </a:lnTo>
                  <a:lnTo>
                    <a:pt x="0" y="233172"/>
                  </a:lnTo>
                  <a:lnTo>
                    <a:pt x="0" y="228047"/>
                  </a:lnTo>
                  <a:close/>
                </a:path>
              </a:pathLst>
            </a:custGeom>
            <a:ln w="9525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735714" y="3298365"/>
            <a:ext cx="1466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50" dirty="0">
                <a:solidFill>
                  <a:srgbClr val="384653"/>
                </a:solidFill>
                <a:latin typeface="Verdana"/>
                <a:cs typeface="Verdana"/>
              </a:rPr>
              <a:t>4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41585" y="3826597"/>
            <a:ext cx="3735704" cy="14782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200" spc="-50" dirty="0">
                <a:solidFill>
                  <a:srgbClr val="384653"/>
                </a:solidFill>
                <a:latin typeface="Verdana"/>
                <a:cs typeface="Verdana"/>
              </a:rPr>
              <a:t>Aug</a:t>
            </a:r>
            <a:r>
              <a:rPr sz="1200" spc="-35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1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84653"/>
                </a:solidFill>
                <a:latin typeface="Verdana"/>
                <a:cs typeface="Verdana"/>
              </a:rPr>
              <a:t>-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384653"/>
                </a:solidFill>
                <a:latin typeface="Verdana"/>
                <a:cs typeface="Verdana"/>
              </a:rPr>
              <a:t>Sep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384653"/>
                </a:solidFill>
                <a:latin typeface="Verdana"/>
                <a:cs typeface="Verdana"/>
              </a:rPr>
              <a:t>30,</a:t>
            </a:r>
            <a:r>
              <a:rPr sz="1200" spc="-30" dirty="0">
                <a:solidFill>
                  <a:srgbClr val="384653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84653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950" b="1" dirty="0">
                <a:solidFill>
                  <a:srgbClr val="384653"/>
                </a:solidFill>
                <a:latin typeface="Trebuchet MS"/>
                <a:cs typeface="Trebuchet MS"/>
              </a:rPr>
              <a:t>Phase</a:t>
            </a:r>
            <a:r>
              <a:rPr sz="950" b="1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50" dirty="0">
                <a:solidFill>
                  <a:srgbClr val="384653"/>
                </a:solidFill>
                <a:latin typeface="Trebuchet MS"/>
                <a:cs typeface="Trebuchet MS"/>
              </a:rPr>
              <a:t>4:</a:t>
            </a:r>
            <a:r>
              <a:rPr sz="950" b="1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384653"/>
                </a:solidFill>
                <a:latin typeface="Trebuchet MS"/>
                <a:cs typeface="Trebuchet MS"/>
              </a:rPr>
              <a:t>Production</a:t>
            </a:r>
            <a:r>
              <a:rPr sz="950" b="1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384653"/>
                </a:solidFill>
                <a:latin typeface="Trebuchet MS"/>
                <a:cs typeface="Trebuchet MS"/>
              </a:rPr>
              <a:t>&amp;</a:t>
            </a:r>
            <a:r>
              <a:rPr sz="950" b="1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b="1" spc="35" dirty="0">
                <a:solidFill>
                  <a:srgbClr val="384653"/>
                </a:solidFill>
                <a:latin typeface="Trebuchet MS"/>
                <a:cs typeface="Trebuchet MS"/>
              </a:rPr>
              <a:t>BCP</a:t>
            </a:r>
            <a:endParaRPr sz="95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15100"/>
              </a:lnSpc>
              <a:spcBef>
                <a:spcPts val="409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Migration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of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Production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(Shoreview)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75" dirty="0">
                <a:solidFill>
                  <a:srgbClr val="384653"/>
                </a:solidFill>
                <a:latin typeface="Trebuchet MS"/>
                <a:cs typeface="Trebuchet MS"/>
              </a:rPr>
              <a:t>BCP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(Tempe)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clusters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384653"/>
                </a:solidFill>
                <a:latin typeface="Trebuchet MS"/>
                <a:cs typeface="Trebuchet MS"/>
              </a:rPr>
              <a:t>to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new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East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Coast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(Sterling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80" dirty="0">
                <a:solidFill>
                  <a:srgbClr val="384653"/>
                </a:solidFill>
                <a:latin typeface="Trebuchet MS"/>
                <a:cs typeface="Trebuchet MS"/>
              </a:rPr>
              <a:t>&amp;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65" dirty="0">
                <a:solidFill>
                  <a:srgbClr val="384653"/>
                </a:solidFill>
                <a:latin typeface="Trebuchet MS"/>
                <a:cs typeface="Trebuchet MS"/>
              </a:rPr>
              <a:t>Manassas)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West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Coast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(Garland </a:t>
            </a:r>
            <a:r>
              <a:rPr sz="950" spc="-80" dirty="0">
                <a:solidFill>
                  <a:srgbClr val="384653"/>
                </a:solidFill>
                <a:latin typeface="Trebuchet MS"/>
                <a:cs typeface="Trebuchet MS"/>
              </a:rPr>
              <a:t>&amp;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Lewisville)</a:t>
            </a:r>
            <a:r>
              <a:rPr sz="9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clusters</a:t>
            </a:r>
            <a:r>
              <a:rPr sz="9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with</a:t>
            </a:r>
            <a:r>
              <a:rPr sz="9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60" dirty="0">
                <a:solidFill>
                  <a:srgbClr val="384653"/>
                </a:solidFill>
                <a:latin typeface="Trebuchet MS"/>
                <a:cs typeface="Trebuchet MS"/>
              </a:rPr>
              <a:t>CCR</a:t>
            </a:r>
            <a:r>
              <a:rPr sz="950" spc="-1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setup.</a:t>
            </a:r>
            <a:endParaRPr sz="950">
              <a:latin typeface="Trebuchet MS"/>
              <a:cs typeface="Trebuchet MS"/>
            </a:endParaRPr>
          </a:p>
          <a:p>
            <a:pPr marL="222250" marR="214629" algn="ctr">
              <a:lnSpc>
                <a:spcPct val="118400"/>
              </a:lnSpc>
              <a:spcBef>
                <a:spcPts val="450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Key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Activities: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Cluster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Setup,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Data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Migration,</a:t>
            </a:r>
            <a:r>
              <a:rPr sz="950" spc="-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Client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Updates, Validation.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7460" y="5384207"/>
            <a:ext cx="964184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This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phased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strategy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allows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for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focused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attention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on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each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384653"/>
                </a:solidFill>
                <a:latin typeface="Trebuchet MS"/>
                <a:cs typeface="Trebuchet MS"/>
              </a:rPr>
              <a:t>environment,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minimizing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risks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and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ensuring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thorough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validation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before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proceeding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to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the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next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stage,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culminating</a:t>
            </a:r>
            <a:r>
              <a:rPr sz="950" spc="2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in</a:t>
            </a:r>
            <a:r>
              <a:rPr sz="950" spc="20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384653"/>
                </a:solidFill>
                <a:latin typeface="Trebuchet MS"/>
                <a:cs typeface="Trebuchet MS"/>
              </a:rPr>
              <a:t>a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successful</a:t>
            </a:r>
            <a:r>
              <a:rPr sz="950" spc="16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384653"/>
                </a:solidFill>
                <a:latin typeface="Trebuchet MS"/>
                <a:cs typeface="Trebuchet MS"/>
              </a:rPr>
              <a:t>production</a:t>
            </a:r>
            <a:r>
              <a:rPr sz="950" spc="165" dirty="0">
                <a:solidFill>
                  <a:srgbClr val="384653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384653"/>
                </a:solidFill>
                <a:latin typeface="Trebuchet MS"/>
                <a:cs typeface="Trebuchet MS"/>
              </a:rPr>
              <a:t>cutover.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54908"/>
            <a:ext cx="5590540" cy="346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40" dirty="0">
                <a:solidFill>
                  <a:srgbClr val="2D3B4E"/>
                </a:solidFill>
                <a:latin typeface="Verdana"/>
                <a:cs typeface="Verdana"/>
              </a:rPr>
              <a:t>Server</a:t>
            </a:r>
            <a:r>
              <a:rPr sz="500" spc="15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500" spc="-30" dirty="0">
                <a:solidFill>
                  <a:srgbClr val="2D3B4E"/>
                </a:solidFill>
                <a:latin typeface="Verdana"/>
                <a:cs typeface="Verdana"/>
              </a:rPr>
              <a:t>Migration</a:t>
            </a:r>
            <a:r>
              <a:rPr sz="500" spc="15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500" spc="-10" dirty="0">
                <a:solidFill>
                  <a:srgbClr val="2D3B4E"/>
                </a:solidFill>
                <a:latin typeface="Verdana"/>
                <a:cs typeface="Verdana"/>
              </a:rPr>
              <a:t>Inventory</a:t>
            </a:r>
            <a:endParaRPr sz="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-65" dirty="0">
                <a:solidFill>
                  <a:srgbClr val="2D3B4E"/>
                </a:solidFill>
                <a:latin typeface="Verdana"/>
                <a:cs typeface="Verdana"/>
              </a:rPr>
              <a:t>Detailed</a:t>
            </a:r>
            <a:r>
              <a:rPr sz="1000" spc="-35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70" dirty="0">
                <a:solidFill>
                  <a:srgbClr val="2D3B4E"/>
                </a:solidFill>
                <a:latin typeface="Verdana"/>
                <a:cs typeface="Verdana"/>
              </a:rPr>
              <a:t>Breakdown</a:t>
            </a:r>
            <a:r>
              <a:rPr sz="1000" spc="-30" dirty="0">
                <a:solidFill>
                  <a:srgbClr val="2D3B4E"/>
                </a:solidFill>
                <a:latin typeface="Verdana"/>
                <a:cs typeface="Verdana"/>
              </a:rPr>
              <a:t> of </a:t>
            </a:r>
            <a:r>
              <a:rPr sz="1000" spc="-65" dirty="0">
                <a:solidFill>
                  <a:srgbClr val="2D3B4E"/>
                </a:solidFill>
                <a:latin typeface="Verdana"/>
                <a:cs typeface="Verdana"/>
              </a:rPr>
              <a:t>Existing</a:t>
            </a:r>
            <a:r>
              <a:rPr sz="10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D3B4E"/>
                </a:solidFill>
                <a:latin typeface="Verdana"/>
                <a:cs typeface="Verdana"/>
              </a:rPr>
              <a:t>&amp;</a:t>
            </a:r>
            <a:r>
              <a:rPr sz="10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2D3B4E"/>
                </a:solidFill>
                <a:latin typeface="Verdana"/>
                <a:cs typeface="Verdana"/>
              </a:rPr>
              <a:t>Proposed</a:t>
            </a:r>
            <a:r>
              <a:rPr sz="10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60" dirty="0">
                <a:solidFill>
                  <a:srgbClr val="2D3B4E"/>
                </a:solidFill>
                <a:latin typeface="Verdana"/>
                <a:cs typeface="Verdana"/>
              </a:rPr>
              <a:t>Elasticsearch</a:t>
            </a:r>
            <a:r>
              <a:rPr sz="1000" spc="-30" dirty="0">
                <a:solidFill>
                  <a:srgbClr val="2D3B4E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2D3B4E"/>
                </a:solidFill>
                <a:latin typeface="Verdana"/>
                <a:cs typeface="Verdana"/>
              </a:rPr>
              <a:t>Instances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This</a:t>
            </a:r>
            <a:r>
              <a:rPr sz="4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comprehensive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list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outlines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current</a:t>
            </a:r>
            <a:r>
              <a:rPr sz="4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Elasticsearch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servers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across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various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environments</a:t>
            </a:r>
            <a:r>
              <a:rPr sz="4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their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corresponding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new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hostnames,</a:t>
            </a:r>
            <a:r>
              <a:rPr sz="4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data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centers,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configurations.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This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inventory</a:t>
            </a:r>
            <a:r>
              <a:rPr sz="4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is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critical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tracking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and</a:t>
            </a:r>
            <a:r>
              <a:rPr sz="400" spc="1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executing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the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migration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with</a:t>
            </a:r>
            <a:r>
              <a:rPr sz="400" spc="1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precision.</a:t>
            </a:r>
            <a:endParaRPr sz="4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3849" y="1885950"/>
            <a:ext cx="1066800" cy="95250"/>
          </a:xfrm>
          <a:custGeom>
            <a:avLst/>
            <a:gdLst/>
            <a:ahLst/>
            <a:cxnLst/>
            <a:rect l="l" t="t" r="r" b="b"/>
            <a:pathLst>
              <a:path w="1066800" h="95250">
                <a:moveTo>
                  <a:pt x="1066799" y="0"/>
                </a:moveTo>
                <a:lnTo>
                  <a:pt x="12769" y="0"/>
                </a:lnTo>
                <a:lnTo>
                  <a:pt x="8611" y="1727"/>
                </a:lnTo>
                <a:lnTo>
                  <a:pt x="1720" y="8610"/>
                </a:lnTo>
                <a:lnTo>
                  <a:pt x="0" y="12763"/>
                </a:lnTo>
                <a:lnTo>
                  <a:pt x="0" y="95249"/>
                </a:lnTo>
                <a:lnTo>
                  <a:pt x="1066799" y="95249"/>
                </a:lnTo>
                <a:lnTo>
                  <a:pt x="1066799" y="0"/>
                </a:lnTo>
                <a:close/>
              </a:path>
            </a:pathLst>
          </a:custGeom>
          <a:solidFill>
            <a:srgbClr val="FFFFFF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72749" y="1885950"/>
            <a:ext cx="533400" cy="95250"/>
          </a:xfrm>
          <a:custGeom>
            <a:avLst/>
            <a:gdLst/>
            <a:ahLst/>
            <a:cxnLst/>
            <a:rect l="l" t="t" r="r" b="b"/>
            <a:pathLst>
              <a:path w="533400" h="95250">
                <a:moveTo>
                  <a:pt x="520636" y="0"/>
                </a:moveTo>
                <a:lnTo>
                  <a:pt x="0" y="0"/>
                </a:lnTo>
                <a:lnTo>
                  <a:pt x="0" y="95249"/>
                </a:lnTo>
                <a:lnTo>
                  <a:pt x="533399" y="95249"/>
                </a:lnTo>
                <a:lnTo>
                  <a:pt x="533399" y="12763"/>
                </a:lnTo>
                <a:lnTo>
                  <a:pt x="531672" y="8610"/>
                </a:lnTo>
                <a:lnTo>
                  <a:pt x="524789" y="1727"/>
                </a:lnTo>
                <a:lnTo>
                  <a:pt x="520636" y="0"/>
                </a:lnTo>
                <a:close/>
              </a:path>
            </a:pathLst>
          </a:custGeom>
          <a:solidFill>
            <a:srgbClr val="FFFFFF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849" y="4724400"/>
            <a:ext cx="1066800" cy="95250"/>
          </a:xfrm>
          <a:custGeom>
            <a:avLst/>
            <a:gdLst/>
            <a:ahLst/>
            <a:cxnLst/>
            <a:rect l="l" t="t" r="r" b="b"/>
            <a:pathLst>
              <a:path w="1066800" h="95250">
                <a:moveTo>
                  <a:pt x="1066799" y="0"/>
                </a:moveTo>
                <a:lnTo>
                  <a:pt x="0" y="0"/>
                </a:lnTo>
                <a:lnTo>
                  <a:pt x="0" y="82486"/>
                </a:lnTo>
                <a:lnTo>
                  <a:pt x="1720" y="86639"/>
                </a:lnTo>
                <a:lnTo>
                  <a:pt x="8611" y="93522"/>
                </a:lnTo>
                <a:lnTo>
                  <a:pt x="12769" y="95249"/>
                </a:lnTo>
                <a:lnTo>
                  <a:pt x="1066799" y="95249"/>
                </a:lnTo>
                <a:lnTo>
                  <a:pt x="1066799" y="0"/>
                </a:lnTo>
                <a:close/>
              </a:path>
            </a:pathLst>
          </a:custGeom>
          <a:solidFill>
            <a:srgbClr val="FFFFFF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90495"/>
              </p:ext>
            </p:extLst>
          </p:nvPr>
        </p:nvGraphicFramePr>
        <p:xfrm>
          <a:off x="309562" y="708026"/>
          <a:ext cx="10791825" cy="54864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591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85a0065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01a0088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50G,/esdata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68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86a0065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02a0088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50G,/esdata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87a0065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lla0088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88a0065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l2a0088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89a0065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l3a0088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90a0065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14a0088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97a0065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Dev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8X32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pd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61a0088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5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spc="5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85a0065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01a0088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50G,/esdata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86a0065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02a0088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50G,/esdata</a:t>
                      </a:r>
                      <a:r>
                        <a:rPr sz="400" spc="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87a0065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lla0088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88a0065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12a0088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89a0065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l3a0088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90a0065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Hot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14a0088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97a0065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SIT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8X32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St.</a:t>
                      </a:r>
                      <a:r>
                        <a:rPr sz="400" spc="-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Louis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 err="1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ps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61a0088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-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2006,/apps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200G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5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spc="5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53a0195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01a0089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54a0195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02a0089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55a0195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03a0089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56a0195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lla0089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57a0195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12a0089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58a0195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l3a0089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59a0195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14a0089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60a0195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15a0089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92a0196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spc="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/Garuda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8X32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61a0088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300G,/apps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Ribana Instance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93a0196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Prod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5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8X32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ShoreView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pp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62a0088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300G,/apps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58a0196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01a0089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59a0196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02a0089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60a0196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Master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03a0089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100G,/esdata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61a0196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lla0089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62a0196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12a0089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7763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63a0196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13a0089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64a0196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14a0089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8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986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65a0196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8X64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15a0089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1T,/esdata</a:t>
                      </a:r>
                      <a:r>
                        <a:rPr sz="400" spc="1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3T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</a:t>
                      </a:r>
                      <a:r>
                        <a:rPr sz="400" spc="-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7.17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8591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91a0188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BCP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5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Garuda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8X32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Tempe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25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UTC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pr</a:t>
                      </a:r>
                      <a:r>
                        <a:rPr lang="en-IN"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61a0088</a:t>
                      </a:r>
                      <a:endParaRPr sz="4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300G,/apps</a:t>
                      </a:r>
                      <a:r>
                        <a:rPr sz="400" spc="3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2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300G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Elasticsearch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Kibana</a:t>
                      </a:r>
                      <a:r>
                        <a:rPr sz="40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spc="-10" dirty="0">
                          <a:solidFill>
                            <a:srgbClr val="374552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9525">
                      <a:solidFill>
                        <a:srgbClr val="F9F9F5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9F9F5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0572749" y="4724400"/>
            <a:ext cx="533400" cy="95250"/>
          </a:xfrm>
          <a:custGeom>
            <a:avLst/>
            <a:gdLst/>
            <a:ahLst/>
            <a:cxnLst/>
            <a:rect l="l" t="t" r="r" b="b"/>
            <a:pathLst>
              <a:path w="533400" h="95250">
                <a:moveTo>
                  <a:pt x="533399" y="0"/>
                </a:moveTo>
                <a:lnTo>
                  <a:pt x="0" y="0"/>
                </a:lnTo>
                <a:lnTo>
                  <a:pt x="0" y="95249"/>
                </a:lnTo>
                <a:lnTo>
                  <a:pt x="520636" y="95249"/>
                </a:lnTo>
                <a:lnTo>
                  <a:pt x="524789" y="93522"/>
                </a:lnTo>
                <a:lnTo>
                  <a:pt x="531672" y="86639"/>
                </a:lnTo>
                <a:lnTo>
                  <a:pt x="533399" y="82486"/>
                </a:lnTo>
                <a:lnTo>
                  <a:pt x="533399" y="0"/>
                </a:lnTo>
                <a:close/>
              </a:path>
            </a:pathLst>
          </a:custGeom>
          <a:solidFill>
            <a:srgbClr val="FFFFFF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4460" y="475282"/>
            <a:ext cx="303403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This</a:t>
            </a:r>
            <a:r>
              <a:rPr sz="4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table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serves as</a:t>
            </a:r>
            <a:r>
              <a:rPr sz="4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a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foundational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reference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for</a:t>
            </a:r>
            <a:r>
              <a:rPr sz="4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0" dirty="0">
                <a:solidFill>
                  <a:srgbClr val="374552"/>
                </a:solidFill>
                <a:latin typeface="Trebuchet MS"/>
                <a:cs typeface="Trebuchet MS"/>
              </a:rPr>
              <a:t>all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migration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25" dirty="0">
                <a:solidFill>
                  <a:srgbClr val="374552"/>
                </a:solidFill>
                <a:latin typeface="Trebuchet MS"/>
                <a:cs typeface="Trebuchet MS"/>
              </a:rPr>
              <a:t>activities,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ensuring</a:t>
            </a:r>
            <a:r>
              <a:rPr sz="4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accurate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provisioning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and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configuration</a:t>
            </a:r>
            <a:r>
              <a:rPr sz="400" spc="-5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of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new</a:t>
            </a:r>
            <a:r>
              <a:rPr sz="400" dirty="0">
                <a:solidFill>
                  <a:srgbClr val="374552"/>
                </a:solidFill>
                <a:latin typeface="Trebuchet MS"/>
                <a:cs typeface="Trebuchet MS"/>
              </a:rPr>
              <a:t> </a:t>
            </a:r>
            <a:r>
              <a:rPr sz="400" spc="-10" dirty="0">
                <a:solidFill>
                  <a:srgbClr val="374552"/>
                </a:solidFill>
                <a:latin typeface="Trebuchet MS"/>
                <a:cs typeface="Trebuchet MS"/>
              </a:rPr>
              <a:t>hosts.</a:t>
            </a:r>
            <a:endParaRPr sz="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1998</Words>
  <Application>Microsoft Office PowerPoint</Application>
  <PresentationFormat>Custom</PresentationFormat>
  <Paragraphs>396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Times New Roman</vt:lpstr>
      <vt:lpstr>Trebuchet MS</vt:lpstr>
      <vt:lpstr>Verdana</vt:lpstr>
      <vt:lpstr>Office Theme</vt:lpstr>
      <vt:lpstr>Elasticsearch DC Exit Migration</vt:lpstr>
      <vt:lpstr>Project Overview Addressing Critical Business and Technical Demands</vt:lpstr>
      <vt:lpstr>Transitioning to a Four-Datacenter Model with Cross-Cluster Replication</vt:lpstr>
      <vt:lpstr>Problem Statement: Non-Production Streamlined Non-Prod Environments for Development &amp; Testing</vt:lpstr>
      <vt:lpstr>Understanding Existing Elasticsearch Data Flow</vt:lpstr>
      <vt:lpstr>General Design Considerations Architectural Principles for a Robust Elasticsearch Deployment</vt:lpstr>
      <vt:lpstr>Ensuring Business Continuity and Data Integrity</vt:lpstr>
      <vt:lpstr>Phased Approach to Elasticsearch DC Exit Migration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Suganth Mohan</cp:lastModifiedBy>
  <cp:revision>1</cp:revision>
  <dcterms:created xsi:type="dcterms:W3CDTF">2026-02-16T11:57:33Z</dcterms:created>
  <dcterms:modified xsi:type="dcterms:W3CDTF">2026-02-16T12:01:53Z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2026-02-16T00:00:00Z</vt:filetime>
  </property>
  <property fmtid="{D5CDD505-2E9C-101B-9397-08002B2CF9AE}" pid="5" name="Producer">
    <vt:lpwstr>pdf-lib (https://github.com/Hopding/pdf-lib)</vt:lpwstr>
  </property>
</Properties>
</file>